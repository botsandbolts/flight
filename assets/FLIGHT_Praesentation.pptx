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788e8118b045f0" /><Relationship Type="http://schemas.openxmlformats.org/officeDocument/2006/relationships/extended-properties" Target="/docProps/app.xml" Id="R368b885feea34a76" /><Relationship Type="http://schemas.openxmlformats.org/officeDocument/2006/relationships/officeDocument" Target="/ppt/presentation.xml" Id="R1bbca1a189424c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e805b7fe274499"/>
  </p:sldMasterIdLst>
  <p:notesMasterIdLst>
    <p:notesMasterId xmlns:r="http://schemas.openxmlformats.org/officeDocument/2006/relationships" r:id="Rbd6d9917f4d040ba"/>
  </p:notesMasterIdLst>
  <p:sldIdLst>
    <p:sldId xmlns:r="http://schemas.openxmlformats.org/officeDocument/2006/relationships" id="256" r:id="Rd1715c70ce7d46d3"/>
    <p:sldId xmlns:r="http://schemas.openxmlformats.org/officeDocument/2006/relationships" id="257" r:id="Rd20b202b861a4a13"/>
    <p:sldId xmlns:r="http://schemas.openxmlformats.org/officeDocument/2006/relationships" id="258" r:id="R18d4a28fa70c413e"/>
    <p:sldId xmlns:r="http://schemas.openxmlformats.org/officeDocument/2006/relationships" id="259" r:id="Re70ef9f79ce44734"/>
    <p:sldId xmlns:r="http://schemas.openxmlformats.org/officeDocument/2006/relationships" id="260" r:id="R07fd473d08744135"/>
    <p:sldId xmlns:r="http://schemas.openxmlformats.org/officeDocument/2006/relationships" id="261" r:id="R94193d6f0ca34328"/>
    <p:sldId xmlns:r="http://schemas.openxmlformats.org/officeDocument/2006/relationships" id="262" r:id="Rc9b5426952144c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cbb204242b34208" /><Relationship Type="http://schemas.openxmlformats.org/officeDocument/2006/relationships/slideMaster" Target="/ppt/slideMasters/slideMaster1.xml" Id="R7ee805b7fe274499" /><Relationship Type="http://schemas.openxmlformats.org/officeDocument/2006/relationships/notesMaster" Target="/ppt/notesMasters/notesMaster1.xml" Id="Rbd6d9917f4d040ba" /><Relationship Type="http://schemas.openxmlformats.org/officeDocument/2006/relationships/presProps" Target="/ppt/presProps.xml" Id="R7a8cbe37ecf149d6" /><Relationship Type="http://schemas.openxmlformats.org/officeDocument/2006/relationships/tableStyles" Target="/ppt/tableStyles.xml" Id="R60d3b0468a544d00" /><Relationship Type="http://schemas.openxmlformats.org/officeDocument/2006/relationships/slide" Target="/ppt/slides/slide1.xml" Id="Rd1715c70ce7d46d3" /><Relationship Type="http://schemas.openxmlformats.org/officeDocument/2006/relationships/slide" Target="/ppt/slides/slide2.xml" Id="Rd20b202b861a4a13" /><Relationship Type="http://schemas.openxmlformats.org/officeDocument/2006/relationships/slide" Target="/ppt/slides/slide3.xml" Id="R18d4a28fa70c413e" /><Relationship Type="http://schemas.openxmlformats.org/officeDocument/2006/relationships/slide" Target="/ppt/slides/slide4.xml" Id="Re70ef9f79ce44734" /><Relationship Type="http://schemas.openxmlformats.org/officeDocument/2006/relationships/slide" Target="/ppt/slides/slide5.xml" Id="R07fd473d08744135" /><Relationship Type="http://schemas.openxmlformats.org/officeDocument/2006/relationships/slide" Target="/ppt/slides/slide6.xml" Id="R94193d6f0ca34328" /><Relationship Type="http://schemas.openxmlformats.org/officeDocument/2006/relationships/slide" Target="/ppt/slides/slide7.xml" Id="Rc9b5426952144c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0e2b462fe448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9446bfb6354b15" /><Relationship Type="http://schemas.openxmlformats.org/officeDocument/2006/relationships/notesMaster" Target="/ppt/notesMasters/notesMaster1.xml" Id="R219330b9ac1045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d6cccdced442eb" /><Relationship Type="http://schemas.openxmlformats.org/officeDocument/2006/relationships/notesMaster" Target="/ppt/notesMasters/notesMaster1.xml" Id="R3dbe08a984bb459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2b3b03861949db" /><Relationship Type="http://schemas.openxmlformats.org/officeDocument/2006/relationships/notesMaster" Target="/ppt/notesMasters/notesMaster1.xml" Id="R6cda8a910bed45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657f46f3304582" /><Relationship Type="http://schemas.openxmlformats.org/officeDocument/2006/relationships/notesMaster" Target="/ppt/notesMasters/notesMaster1.xml" Id="R020cd600994b4d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cd89ee1b914c51" /><Relationship Type="http://schemas.openxmlformats.org/officeDocument/2006/relationships/notesMaster" Target="/ppt/notesMasters/notesMaster1.xml" Id="R8f9aaac515e64c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ac3c4c5e2c4f0e" /><Relationship Type="http://schemas.openxmlformats.org/officeDocument/2006/relationships/notesMaster" Target="/ppt/notesMasters/notesMaster1.xml" Id="Rf147065d7df845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b84beb82d142e8" /><Relationship Type="http://schemas.openxmlformats.org/officeDocument/2006/relationships/notesMaster" Target="/ppt/notesMasters/notesMaster1.xml" Id="R5aa9adb242b64e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KI-generierte Illustration. Fiktive Figuren und fiktiver Shop. Portfolio von Amit Steinberg.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Projektstand: kompakte ausführbare Implementierungen und Simulationen. Kein Nachweis kommerzieller Wirkung. Öffentliche Quellen: https://www.kaggle.com/datasets/retailrocket/ecommerce-dataset ; https://rees46.com/en/datasets ; https://github.com/HaitaoMao/Amazon-M2-Session-Recommendation ; https://amazon-reviews-2023.github.io/ ; https://github.com/amazon-science/esci-data ; https://huggingface.co/datasets/criteo/criteo-uplift . Modelle und Daten benötigen getrennte Evaluation. Portfolio von Amit Steinberg.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Projektstand: kompakte ausführbare Implementierungen und Simulationen. Kein Nachweis kommerzieller Wirkung. Öffentliche Quellen: https://www.kaggle.com/datasets/retailrocket/ecommerce-dataset ; https://rees46.com/en/datasets ; https://github.com/HaitaoMao/Amazon-M2-Session-Recommendation ; https://amazon-reviews-2023.github.io/ ; https://github.com/amazon-science/esci-data ; https://huggingface.co/datasets/criteo/criteo-uplift . Modelle und Daten benötigen getrennte Evaluation. Portfolio von Amit Steinberg.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Projektstand: kompakte ausführbare Implementierungen und Simulationen. Kein Nachweis kommerzieller Wirkung. Öffentliche Quellen: https://www.kaggle.com/datasets/retailrocket/ecommerce-dataset ; https://rees46.com/en/datasets ; https://github.com/HaitaoMao/Amazon-M2-Session-Recommendation ; https://amazon-reviews-2023.github.io/ ; https://github.com/amazon-science/esci-data ; https://huggingface.co/datasets/criteo/criteo-uplift . Modelle und Daten benötigen getrennte Evaluation. Portfolio von Amit Steinberg.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Projektstand: kompakte ausführbare Implementierungen und Simulationen. Kein Nachweis kommerzieller Wirkung. Öffentliche Quellen: https://www.kaggle.com/datasets/retailrocket/ecommerce-dataset ; https://rees46.com/en/datasets ; https://github.com/HaitaoMao/Amazon-M2-Session-Recommendation ; https://amazon-reviews-2023.github.io/ ; https://github.com/amazon-science/esci-data ; https://huggingface.co/datasets/criteo/criteo-uplift . Modelle und Daten benötigen getrennte Evaluation. Portfolio von Amit Steinberg.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Projektstand: kompakte ausführbare Implementierungen und Simulationen. Kein Nachweis kommerzieller Wirkung. Öffentliche Quellen: https://www.kaggle.com/datasets/retailrocket/ecommerce-dataset ; https://rees46.com/en/datasets ; https://github.com/HaitaoMao/Amazon-M2-Session-Recommendation ; https://amazon-reviews-2023.github.io/ ; https://github.com/amazon-science/esci-data ; https://huggingface.co/datasets/criteo/criteo-uplift . Modelle und Daten benötigen getrennte Evaluation. Portfolio von Amit Steinberg.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Projektstand: kompakte ausführbare Implementierungen und Simulationen. Kein Nachweis kommerzieller Wirkung. Öffentliche Quellen: https://www.kaggle.com/datasets/retailrocket/ecommerce-dataset ; https://rees46.com/en/datasets ; https://github.com/HaitaoMao/Amazon-M2-Session-Recommendation ; https://amazon-reviews-2023.github.io/ ; https://github.com/amazon-science/esci-data ; https://huggingface.co/datasets/criteo/criteo-uplift . Modelle und Daten benötigen getrennte Evaluation. Portfolio von Amit Steinberg.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b2abf7f8bb416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c019968691467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493eef043642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725d353ed342e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115180c279433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4e9ae41a154c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F7FBC3E-259D-438C-ADB4-58C7FE902A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AC3D119-6F43-4C87-B7EE-6BCF3C15C07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91FB51B-5299-4E68-AB1E-1D9561E564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833104B-93B2-4CC7-A084-315FD4023A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743DD41-F175-47E3-86E2-907CD1EFEF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C798E19-4451-40B4-AC04-CC46D4FF70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44C0F03-F195-475B-85F5-19DEFDFA8F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1125905-591A-4CFA-B0D5-CD8AB8F4C17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443977-2904-4D1A-B365-A824BF82D7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1533CAC-9CEF-40BA-8DE0-3A0363016F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86f1ae41f3436c" /><Relationship Type="http://schemas.openxmlformats.org/officeDocument/2006/relationships/slideLayout" Target="/ppt/slideLayouts/slideLayout1.xml" Id="R183893f19ad0490f" /><Relationship Type="http://schemas.openxmlformats.org/officeDocument/2006/relationships/slideLayout" Target="/ppt/slideLayouts/slideLayout2.xml" Id="Raf1c5d8732054071" /><Relationship Type="http://schemas.openxmlformats.org/officeDocument/2006/relationships/slideLayout" Target="/ppt/slideLayouts/slideLayout3.xml" Id="R07229905a0fa431f" /><Relationship Type="http://schemas.openxmlformats.org/officeDocument/2006/relationships/slideLayout" Target="/ppt/slideLayouts/slideLayout4.xml" Id="R56dbc6cd468a45a5" /><Relationship Type="http://schemas.openxmlformats.org/officeDocument/2006/relationships/slideLayout" Target="/ppt/slideLayouts/slideLayout5.xml" Id="R12478d15adea47be" /><Relationship Type="http://schemas.openxmlformats.org/officeDocument/2006/relationships/slideLayout" Target="/ppt/slideLayouts/slideLayout6.xml" Id="Rcd690d15a557494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3893f19ad0490f"/>
    <p:sldLayoutId xmlns:r="http://schemas.openxmlformats.org/officeDocument/2006/relationships" id="2147483650" r:id="Raf1c5d8732054071"/>
    <p:sldLayoutId xmlns:r="http://schemas.openxmlformats.org/officeDocument/2006/relationships" id="2147483651" r:id="R07229905a0fa431f"/>
    <p:sldLayoutId xmlns:r="http://schemas.openxmlformats.org/officeDocument/2006/relationships" id="2147483652" r:id="R56dbc6cd468a45a5"/>
    <p:sldLayoutId xmlns:r="http://schemas.openxmlformats.org/officeDocument/2006/relationships" id="2147483653" r:id="R12478d15adea47be"/>
    <p:sldLayoutId xmlns:r="http://schemas.openxmlformats.org/officeDocument/2006/relationships" id="2147483654" r:id="Rcd690d15a55749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a8f429babc4523" /><Relationship Type="http://schemas.openxmlformats.org/officeDocument/2006/relationships/image" Target="/ppt/media/image.jpeg" Id="R9de0ac0a6b7f4a92" /><Relationship Type="http://schemas.openxmlformats.org/officeDocument/2006/relationships/notesSlide" Target="/ppt/notesSlides/notesSlide1.xml" Id="R7c686cf840da411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b5391c8f6c4a71" /><Relationship Type="http://schemas.openxmlformats.org/officeDocument/2006/relationships/notesSlide" Target="/ppt/notesSlides/notesSlide2.xml" Id="R92138374b82f46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2181ee9c074210" /><Relationship Type="http://schemas.openxmlformats.org/officeDocument/2006/relationships/notesSlide" Target="/ppt/notesSlides/notesSlide3.xml" Id="R2b532f4c03d94f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c66c8bdbb14769" /><Relationship Type="http://schemas.openxmlformats.org/officeDocument/2006/relationships/notesSlide" Target="/ppt/notesSlides/notesSlide4.xml" Id="R6c30f613dd5e40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ac925095e0439b" /><Relationship Type="http://schemas.openxmlformats.org/officeDocument/2006/relationships/notesSlide" Target="/ppt/notesSlides/notesSlide5.xml" Id="R54ca15ae1bca4d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c9dfaa1b3c4a2e" /><Relationship Type="http://schemas.openxmlformats.org/officeDocument/2006/relationships/notesSlide" Target="/ppt/notesSlides/notesSlide6.xml" Id="R262a27976e954b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a3e8b4d4b042bf" /><Relationship Type="http://schemas.openxmlformats.org/officeDocument/2006/relationships/notesSlide" Target="/ppt/notesSlides/notesSlide7.xml" Id="R9b813b0445fc4a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52F374-A154-4DD9-9E26-1A55C72F06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e0ac0a6b7f4a92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659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9D5085-794F-4CEC-BBE1-2169F3C3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6DDC0"/>
                </a:solidFill>
              </a:defRPr>
            </a:defPPr>
            <a:lvl1pPr>
              <a:defRPr sz="3450" b="1">
                <a:solidFill>
                  <a:srgbClr val="56DDC0"/>
                </a:solidFill>
              </a:defRPr>
            </a:lvl1pPr>
            <a:lvl2pPr>
              <a:defRPr sz="3450" b="1">
                <a:solidFill>
                  <a:srgbClr val="56DDC0"/>
                </a:solidFill>
              </a:defRPr>
            </a:lvl2pPr>
            <a:lvl3pPr>
              <a:defRPr sz="3450" b="1">
                <a:solidFill>
                  <a:srgbClr val="56DDC0"/>
                </a:solidFill>
              </a:defRPr>
            </a:lvl3pPr>
            <a:lvl4pPr>
              <a:defRPr sz="3450" b="1">
                <a:solidFill>
                  <a:srgbClr val="56DDC0"/>
                </a:solidFill>
              </a:defRPr>
            </a:lvl4pPr>
            <a:lvl5pPr>
              <a:defRPr sz="3450" b="1">
                <a:solidFill>
                  <a:srgbClr val="56DDC0"/>
                </a:solidFill>
              </a:defRPr>
            </a:lvl5pPr>
            <a:lvl6pPr>
              <a:defRPr sz="3450" b="1">
                <a:solidFill>
                  <a:srgbClr val="56DDC0"/>
                </a:solidFill>
              </a:defRPr>
            </a:lvl6pPr>
            <a:lvl7pPr>
              <a:defRPr sz="3450" b="1">
                <a:solidFill>
                  <a:srgbClr val="56DDC0"/>
                </a:solidFill>
              </a:defRPr>
            </a:lvl7pPr>
            <a:lvl8pPr>
              <a:defRPr sz="3450" b="1">
                <a:solidFill>
                  <a:srgbClr val="56DDC0"/>
                </a:solidFill>
              </a:defRPr>
            </a:lvl8pPr>
            <a:lvl9pPr>
              <a:defRPr sz="3450" b="1">
                <a:solidFill>
                  <a:srgbClr val="56DDC0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6DDC0"/>
                </a:solidFill>
              </a:defRPr>
            </a:pPr>
            <a:r>
              <a:rPr sz="3450" b="1">
                <a:solidFill>
                  <a:srgbClr val="56DDC0"/>
                </a:solidFill>
              </a:rPr>
              <a:t>Annas Einkaufsreise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06F61E-D5C7-4A6B-886D-4C18D392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66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E8EDF6"/>
                </a:solidFill>
              </a:defRPr>
            </a:defPPr>
            <a:lvl1pPr>
              <a:defRPr sz="3150" b="1">
                <a:solidFill>
                  <a:srgbClr val="E8EDF6"/>
                </a:solidFill>
              </a:defRPr>
            </a:lvl1pPr>
            <a:lvl2pPr>
              <a:defRPr sz="3150" b="1">
                <a:solidFill>
                  <a:srgbClr val="E8EDF6"/>
                </a:solidFill>
              </a:defRPr>
            </a:lvl2pPr>
            <a:lvl3pPr>
              <a:defRPr sz="3150" b="1">
                <a:solidFill>
                  <a:srgbClr val="E8EDF6"/>
                </a:solidFill>
              </a:defRPr>
            </a:lvl3pPr>
            <a:lvl4pPr>
              <a:defRPr sz="3150" b="1">
                <a:solidFill>
                  <a:srgbClr val="E8EDF6"/>
                </a:solidFill>
              </a:defRPr>
            </a:lvl4pPr>
            <a:lvl5pPr>
              <a:defRPr sz="3150" b="1">
                <a:solidFill>
                  <a:srgbClr val="E8EDF6"/>
                </a:solidFill>
              </a:defRPr>
            </a:lvl5pPr>
            <a:lvl6pPr>
              <a:defRPr sz="3150" b="1">
                <a:solidFill>
                  <a:srgbClr val="E8EDF6"/>
                </a:solidFill>
              </a:defRPr>
            </a:lvl6pPr>
            <a:lvl7pPr>
              <a:defRPr sz="3150" b="1">
                <a:solidFill>
                  <a:srgbClr val="E8EDF6"/>
                </a:solidFill>
              </a:defRPr>
            </a:lvl7pPr>
            <a:lvl8pPr>
              <a:defRPr sz="3150" b="1">
                <a:solidFill>
                  <a:srgbClr val="E8EDF6"/>
                </a:solidFill>
              </a:defRPr>
            </a:lvl8pPr>
            <a:lvl9pPr>
              <a:defRPr sz="3150" b="1">
                <a:solidFill>
                  <a:srgbClr val="E8EDF6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E8EDF6"/>
                </a:solidFill>
              </a:defRPr>
            </a:pPr>
            <a:r>
              <a:rPr sz="3150" b="1">
                <a:solidFill>
                  <a:srgbClr val="E8EDF6"/>
                </a:solidFill>
              </a:rPr>
              <a:t>Ein Klick ist ein Hinweis.</a:t>
            </a:r>
          </a:p>
          <a:p xmlns:a="http://schemas.openxmlformats.org/drawingml/2006/main">
            <a:pPr>
              <a:defRPr sz="3150" b="1">
                <a:solidFill>
                  <a:srgbClr val="E8EDF6"/>
                </a:solidFill>
              </a:defRPr>
            </a:pPr>
            <a:r>
              <a:rPr sz="3150" b="1">
                <a:solidFill>
                  <a:srgbClr val="E8EDF6"/>
                </a:solidFill>
              </a:rPr>
              <a:t>Die Reihenfolge erzählt eine Geschichte.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72DDD2-B735-435D-AF98-4FFB7282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66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1D0E1"/>
                </a:solidFill>
              </a:defRPr>
            </a:defPPr>
            <a:lvl1pPr>
              <a:defRPr sz="2100" b="0">
                <a:solidFill>
                  <a:srgbClr val="C1D0E1"/>
                </a:solidFill>
              </a:defRPr>
            </a:lvl1pPr>
            <a:lvl2pPr>
              <a:defRPr sz="2100" b="0">
                <a:solidFill>
                  <a:srgbClr val="C1D0E1"/>
                </a:solidFill>
              </a:defRPr>
            </a:lvl2pPr>
            <a:lvl3pPr>
              <a:defRPr sz="2100" b="0">
                <a:solidFill>
                  <a:srgbClr val="C1D0E1"/>
                </a:solidFill>
              </a:defRPr>
            </a:lvl3pPr>
            <a:lvl4pPr>
              <a:defRPr sz="2100" b="0">
                <a:solidFill>
                  <a:srgbClr val="C1D0E1"/>
                </a:solidFill>
              </a:defRPr>
            </a:lvl4pPr>
            <a:lvl5pPr>
              <a:defRPr sz="2100" b="0">
                <a:solidFill>
                  <a:srgbClr val="C1D0E1"/>
                </a:solidFill>
              </a:defRPr>
            </a:lvl5pPr>
            <a:lvl6pPr>
              <a:defRPr sz="2100" b="0">
                <a:solidFill>
                  <a:srgbClr val="C1D0E1"/>
                </a:solidFill>
              </a:defRPr>
            </a:lvl6pPr>
            <a:lvl7pPr>
              <a:defRPr sz="2100" b="0">
                <a:solidFill>
                  <a:srgbClr val="C1D0E1"/>
                </a:solidFill>
              </a:defRPr>
            </a:lvl7pPr>
            <a:lvl8pPr>
              <a:defRPr sz="2100" b="0">
                <a:solidFill>
                  <a:srgbClr val="C1D0E1"/>
                </a:solidFill>
              </a:defRPr>
            </a:lvl8pPr>
            <a:lvl9pPr>
              <a:defRPr sz="2100" b="0">
                <a:solidFill>
                  <a:srgbClr val="C1D0E1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Popularität und ItemKNN bilden die Baseline.</a:t>
            </a:r>
          </a:p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BERT4Rec, SASRec und LightGCN treten im selben Test an.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F16FB1-3E64-4871-9252-8379DE2F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9D8A"/>
                </a:solidFill>
              </a:defRPr>
            </a:defPPr>
            <a:lvl1pPr>
              <a:defRPr sz="1725" b="0">
                <a:solidFill>
                  <a:srgbClr val="FF9D8A"/>
                </a:solidFill>
              </a:defRPr>
            </a:lvl1pPr>
            <a:lvl2pPr>
              <a:defRPr sz="1725" b="0">
                <a:solidFill>
                  <a:srgbClr val="FF9D8A"/>
                </a:solidFill>
              </a:defRPr>
            </a:lvl2pPr>
            <a:lvl3pPr>
              <a:defRPr sz="1725" b="0">
                <a:solidFill>
                  <a:srgbClr val="FF9D8A"/>
                </a:solidFill>
              </a:defRPr>
            </a:lvl3pPr>
            <a:lvl4pPr>
              <a:defRPr sz="1725" b="0">
                <a:solidFill>
                  <a:srgbClr val="FF9D8A"/>
                </a:solidFill>
              </a:defRPr>
            </a:lvl4pPr>
            <a:lvl5pPr>
              <a:defRPr sz="1725" b="0">
                <a:solidFill>
                  <a:srgbClr val="FF9D8A"/>
                </a:solidFill>
              </a:defRPr>
            </a:lvl5pPr>
            <a:lvl6pPr>
              <a:defRPr sz="1725" b="0">
                <a:solidFill>
                  <a:srgbClr val="FF9D8A"/>
                </a:solidFill>
              </a:defRPr>
            </a:lvl6pPr>
            <a:lvl7pPr>
              <a:defRPr sz="1725" b="0">
                <a:solidFill>
                  <a:srgbClr val="FF9D8A"/>
                </a:solidFill>
              </a:defRPr>
            </a:lvl7pPr>
            <a:lvl8pPr>
              <a:defRPr sz="1725" b="0">
                <a:solidFill>
                  <a:srgbClr val="FF9D8A"/>
                </a:solidFill>
              </a:defRPr>
            </a:lvl8pPr>
            <a:lvl9pPr>
              <a:defRPr sz="1725" b="0">
                <a:solidFill>
                  <a:srgbClr val="FF9D8A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9D8A"/>
                </a:solidFill>
              </a:defRPr>
            </a:pPr>
            <a:r>
              <a:rPr sz="1725" b="0">
                <a:solidFill>
                  <a:srgbClr val="FF9D8A"/>
                </a:solidFill>
              </a:rPr>
              <a:t>Wer einmal einen Toaster anklickt, ist noch kein Brotbeauftragter.</a:t>
            </a:r>
          </a:p>
        </p:txBody>
      </p:sp>
    </p:spTree>
    <p:extLst>
      <p:ext uri="{BB962C8B-B14F-4D97-AF65-F5344CB8AC3E}">
        <p14:creationId xmlns:p14="http://schemas.microsoft.com/office/powerpoint/2010/main" val="16032136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5BC12-4C89-4B3B-A8E3-BE664DE1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6DDC0"/>
                </a:solidFill>
              </a:defRPr>
            </a:defPPr>
            <a:lvl1pPr>
              <a:defRPr sz="3450" b="1">
                <a:solidFill>
                  <a:srgbClr val="56DDC0"/>
                </a:solidFill>
              </a:defRPr>
            </a:lvl1pPr>
            <a:lvl2pPr>
              <a:defRPr sz="3450" b="1">
                <a:solidFill>
                  <a:srgbClr val="56DDC0"/>
                </a:solidFill>
              </a:defRPr>
            </a:lvl2pPr>
            <a:lvl3pPr>
              <a:defRPr sz="3450" b="1">
                <a:solidFill>
                  <a:srgbClr val="56DDC0"/>
                </a:solidFill>
              </a:defRPr>
            </a:lvl3pPr>
            <a:lvl4pPr>
              <a:defRPr sz="3450" b="1">
                <a:solidFill>
                  <a:srgbClr val="56DDC0"/>
                </a:solidFill>
              </a:defRPr>
            </a:lvl4pPr>
            <a:lvl5pPr>
              <a:defRPr sz="3450" b="1">
                <a:solidFill>
                  <a:srgbClr val="56DDC0"/>
                </a:solidFill>
              </a:defRPr>
            </a:lvl5pPr>
            <a:lvl6pPr>
              <a:defRPr sz="3450" b="1">
                <a:solidFill>
                  <a:srgbClr val="56DDC0"/>
                </a:solidFill>
              </a:defRPr>
            </a:lvl6pPr>
            <a:lvl7pPr>
              <a:defRPr sz="3450" b="1">
                <a:solidFill>
                  <a:srgbClr val="56DDC0"/>
                </a:solidFill>
              </a:defRPr>
            </a:lvl7pPr>
            <a:lvl8pPr>
              <a:defRPr sz="3450" b="1">
                <a:solidFill>
                  <a:srgbClr val="56DDC0"/>
                </a:solidFill>
              </a:defRPr>
            </a:lvl8pPr>
            <a:lvl9pPr>
              <a:defRPr sz="3450" b="1">
                <a:solidFill>
                  <a:srgbClr val="56DDC0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6DDC0"/>
                </a:solidFill>
              </a:defRPr>
            </a:pPr>
            <a:r>
              <a:rPr sz="3450" b="1">
                <a:solidFill>
                  <a:srgbClr val="56DDC0"/>
                </a:solidFill>
              </a:rPr>
              <a:t>Produkte verstehen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FCAC2E-A010-4423-9EAC-8178CC7D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66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E8EDF6"/>
                </a:solidFill>
              </a:defRPr>
            </a:defPPr>
            <a:lvl1pPr>
              <a:defRPr sz="3150" b="1">
                <a:solidFill>
                  <a:srgbClr val="E8EDF6"/>
                </a:solidFill>
              </a:defRPr>
            </a:lvl1pPr>
            <a:lvl2pPr>
              <a:defRPr sz="3150" b="1">
                <a:solidFill>
                  <a:srgbClr val="E8EDF6"/>
                </a:solidFill>
              </a:defRPr>
            </a:lvl2pPr>
            <a:lvl3pPr>
              <a:defRPr sz="3150" b="1">
                <a:solidFill>
                  <a:srgbClr val="E8EDF6"/>
                </a:solidFill>
              </a:defRPr>
            </a:lvl3pPr>
            <a:lvl4pPr>
              <a:defRPr sz="3150" b="1">
                <a:solidFill>
                  <a:srgbClr val="E8EDF6"/>
                </a:solidFill>
              </a:defRPr>
            </a:lvl4pPr>
            <a:lvl5pPr>
              <a:defRPr sz="3150" b="1">
                <a:solidFill>
                  <a:srgbClr val="E8EDF6"/>
                </a:solidFill>
              </a:defRPr>
            </a:lvl5pPr>
            <a:lvl6pPr>
              <a:defRPr sz="3150" b="1">
                <a:solidFill>
                  <a:srgbClr val="E8EDF6"/>
                </a:solidFill>
              </a:defRPr>
            </a:lvl6pPr>
            <a:lvl7pPr>
              <a:defRPr sz="3150" b="1">
                <a:solidFill>
                  <a:srgbClr val="E8EDF6"/>
                </a:solidFill>
              </a:defRPr>
            </a:lvl7pPr>
            <a:lvl8pPr>
              <a:defRPr sz="3150" b="1">
                <a:solidFill>
                  <a:srgbClr val="E8EDF6"/>
                </a:solidFill>
              </a:defRPr>
            </a:lvl8pPr>
            <a:lvl9pPr>
              <a:defRPr sz="3150" b="1">
                <a:solidFill>
                  <a:srgbClr val="E8EDF6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E8EDF6"/>
                </a:solidFill>
              </a:defRPr>
            </a:pPr>
            <a:r>
              <a:rPr sz="3150" b="1">
                <a:solidFill>
                  <a:srgbClr val="E8EDF6"/>
                </a:solidFill>
              </a:rPr>
              <a:t>„Klein, schwarz und für meine Küche.“</a:t>
            </a:r>
          </a:p>
          <a:p xmlns:a="http://schemas.openxmlformats.org/drawingml/2006/main">
            <a:pPr>
              <a:defRPr sz="3150" b="1">
                <a:solidFill>
                  <a:srgbClr val="E8EDF6"/>
                </a:solidFill>
              </a:defRPr>
            </a:pPr>
            <a:r>
              <a:rPr sz="3150" b="1">
                <a:solidFill>
                  <a:srgbClr val="E8EDF6"/>
                </a:solidFill>
              </a:rPr>
              <a:t>Kunden sprechen selten in Artikelnummern.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583990-DC13-4767-BB85-6C15A236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66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1D0E1"/>
                </a:solidFill>
              </a:defRPr>
            </a:defPPr>
            <a:lvl1pPr>
              <a:defRPr sz="2100" b="0">
                <a:solidFill>
                  <a:srgbClr val="C1D0E1"/>
                </a:solidFill>
              </a:defRPr>
            </a:lvl1pPr>
            <a:lvl2pPr>
              <a:defRPr sz="2100" b="0">
                <a:solidFill>
                  <a:srgbClr val="C1D0E1"/>
                </a:solidFill>
              </a:defRPr>
            </a:lvl2pPr>
            <a:lvl3pPr>
              <a:defRPr sz="2100" b="0">
                <a:solidFill>
                  <a:srgbClr val="C1D0E1"/>
                </a:solidFill>
              </a:defRPr>
            </a:lvl3pPr>
            <a:lvl4pPr>
              <a:defRPr sz="2100" b="0">
                <a:solidFill>
                  <a:srgbClr val="C1D0E1"/>
                </a:solidFill>
              </a:defRPr>
            </a:lvl4pPr>
            <a:lvl5pPr>
              <a:defRPr sz="2100" b="0">
                <a:solidFill>
                  <a:srgbClr val="C1D0E1"/>
                </a:solidFill>
              </a:defRPr>
            </a:lvl5pPr>
            <a:lvl6pPr>
              <a:defRPr sz="2100" b="0">
                <a:solidFill>
                  <a:srgbClr val="C1D0E1"/>
                </a:solidFill>
              </a:defRPr>
            </a:lvl6pPr>
            <a:lvl7pPr>
              <a:defRPr sz="2100" b="0">
                <a:solidFill>
                  <a:srgbClr val="C1D0E1"/>
                </a:solidFill>
              </a:defRPr>
            </a:lvl7pPr>
            <a:lvl8pPr>
              <a:defRPr sz="2100" b="0">
                <a:solidFill>
                  <a:srgbClr val="C1D0E1"/>
                </a:solidFill>
              </a:defRPr>
            </a:lvl8pPr>
            <a:lvl9pPr>
              <a:defRPr sz="2100" b="0">
                <a:solidFill>
                  <a:srgbClr val="C1D0E1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TF-IDF liefert die Textbaseline.</a:t>
            </a:r>
          </a:p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Sentence Transformers verstehen Textähnlichkeit.</a:t>
            </a:r>
          </a:p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CLIP verbindet Texte mit Bildern.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2A5AA-8FA5-469B-88FD-013D8ED5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9D8A"/>
                </a:solidFill>
              </a:defRPr>
            </a:defPPr>
            <a:lvl1pPr>
              <a:defRPr sz="1725" b="0">
                <a:solidFill>
                  <a:srgbClr val="FF9D8A"/>
                </a:solidFill>
              </a:defRPr>
            </a:lvl1pPr>
            <a:lvl2pPr>
              <a:defRPr sz="1725" b="0">
                <a:solidFill>
                  <a:srgbClr val="FF9D8A"/>
                </a:solidFill>
              </a:defRPr>
            </a:lvl2pPr>
            <a:lvl3pPr>
              <a:defRPr sz="1725" b="0">
                <a:solidFill>
                  <a:srgbClr val="FF9D8A"/>
                </a:solidFill>
              </a:defRPr>
            </a:lvl3pPr>
            <a:lvl4pPr>
              <a:defRPr sz="1725" b="0">
                <a:solidFill>
                  <a:srgbClr val="FF9D8A"/>
                </a:solidFill>
              </a:defRPr>
            </a:lvl4pPr>
            <a:lvl5pPr>
              <a:defRPr sz="1725" b="0">
                <a:solidFill>
                  <a:srgbClr val="FF9D8A"/>
                </a:solidFill>
              </a:defRPr>
            </a:lvl5pPr>
            <a:lvl6pPr>
              <a:defRPr sz="1725" b="0">
                <a:solidFill>
                  <a:srgbClr val="FF9D8A"/>
                </a:solidFill>
              </a:defRPr>
            </a:lvl6pPr>
            <a:lvl7pPr>
              <a:defRPr sz="1725" b="0">
                <a:solidFill>
                  <a:srgbClr val="FF9D8A"/>
                </a:solidFill>
              </a:defRPr>
            </a:lvl7pPr>
            <a:lvl8pPr>
              <a:defRPr sz="1725" b="0">
                <a:solidFill>
                  <a:srgbClr val="FF9D8A"/>
                </a:solidFill>
              </a:defRPr>
            </a:lvl8pPr>
            <a:lvl9pPr>
              <a:defRPr sz="1725" b="0">
                <a:solidFill>
                  <a:srgbClr val="FF9D8A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9D8A"/>
                </a:solidFill>
              </a:defRPr>
            </a:pPr>
            <a:r>
              <a:rPr sz="1725" b="0">
                <a:solidFill>
                  <a:srgbClr val="FF9D8A"/>
                </a:solidFill>
              </a:rPr>
              <a:t>Bildsuche erzeugt kein Bild. Auch die KI hat Stellenbeschreibungen.</a:t>
            </a:r>
          </a:p>
        </p:txBody>
      </p:sp>
    </p:spTree>
    <p:extLst>
      <p:ext uri="{BB962C8B-B14F-4D97-AF65-F5344CB8AC3E}">
        <p14:creationId xmlns:p14="http://schemas.microsoft.com/office/powerpoint/2010/main" val="4251554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AA08C0-E53E-4EC6-85F6-DDF565D1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6DDC0"/>
                </a:solidFill>
              </a:defRPr>
            </a:defPPr>
            <a:lvl1pPr>
              <a:defRPr sz="3450" b="1">
                <a:solidFill>
                  <a:srgbClr val="56DDC0"/>
                </a:solidFill>
              </a:defRPr>
            </a:lvl1pPr>
            <a:lvl2pPr>
              <a:defRPr sz="3450" b="1">
                <a:solidFill>
                  <a:srgbClr val="56DDC0"/>
                </a:solidFill>
              </a:defRPr>
            </a:lvl2pPr>
            <a:lvl3pPr>
              <a:defRPr sz="3450" b="1">
                <a:solidFill>
                  <a:srgbClr val="56DDC0"/>
                </a:solidFill>
              </a:defRPr>
            </a:lvl3pPr>
            <a:lvl4pPr>
              <a:defRPr sz="3450" b="1">
                <a:solidFill>
                  <a:srgbClr val="56DDC0"/>
                </a:solidFill>
              </a:defRPr>
            </a:lvl4pPr>
            <a:lvl5pPr>
              <a:defRPr sz="3450" b="1">
                <a:solidFill>
                  <a:srgbClr val="56DDC0"/>
                </a:solidFill>
              </a:defRPr>
            </a:lvl5pPr>
            <a:lvl6pPr>
              <a:defRPr sz="3450" b="1">
                <a:solidFill>
                  <a:srgbClr val="56DDC0"/>
                </a:solidFill>
              </a:defRPr>
            </a:lvl6pPr>
            <a:lvl7pPr>
              <a:defRPr sz="3450" b="1">
                <a:solidFill>
                  <a:srgbClr val="56DDC0"/>
                </a:solidFill>
              </a:defRPr>
            </a:lvl7pPr>
            <a:lvl8pPr>
              <a:defRPr sz="3450" b="1">
                <a:solidFill>
                  <a:srgbClr val="56DDC0"/>
                </a:solidFill>
              </a:defRPr>
            </a:lvl8pPr>
            <a:lvl9pPr>
              <a:defRPr sz="3450" b="1">
                <a:solidFill>
                  <a:srgbClr val="56DDC0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6DDC0"/>
                </a:solidFill>
              </a:defRPr>
            </a:pPr>
            <a:r>
              <a:rPr sz="3450" b="1">
                <a:solidFill>
                  <a:srgbClr val="56DDC0"/>
                </a:solidFill>
              </a:rPr>
              <a:t>Marketing mit Gegenprobe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430DE4-8661-4617-AF62-F808BF40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66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E8EDF6"/>
                </a:solidFill>
              </a:defRPr>
            </a:defPPr>
            <a:lvl1pPr>
              <a:defRPr sz="3150" b="1">
                <a:solidFill>
                  <a:srgbClr val="E8EDF6"/>
                </a:solidFill>
              </a:defRPr>
            </a:lvl1pPr>
            <a:lvl2pPr>
              <a:defRPr sz="3150" b="1">
                <a:solidFill>
                  <a:srgbClr val="E8EDF6"/>
                </a:solidFill>
              </a:defRPr>
            </a:lvl2pPr>
            <a:lvl3pPr>
              <a:defRPr sz="3150" b="1">
                <a:solidFill>
                  <a:srgbClr val="E8EDF6"/>
                </a:solidFill>
              </a:defRPr>
            </a:lvl3pPr>
            <a:lvl4pPr>
              <a:defRPr sz="3150" b="1">
                <a:solidFill>
                  <a:srgbClr val="E8EDF6"/>
                </a:solidFill>
              </a:defRPr>
            </a:lvl4pPr>
            <a:lvl5pPr>
              <a:defRPr sz="3150" b="1">
                <a:solidFill>
                  <a:srgbClr val="E8EDF6"/>
                </a:solidFill>
              </a:defRPr>
            </a:lvl5pPr>
            <a:lvl6pPr>
              <a:defRPr sz="3150" b="1">
                <a:solidFill>
                  <a:srgbClr val="E8EDF6"/>
                </a:solidFill>
              </a:defRPr>
            </a:lvl6pPr>
            <a:lvl7pPr>
              <a:defRPr sz="3150" b="1">
                <a:solidFill>
                  <a:srgbClr val="E8EDF6"/>
                </a:solidFill>
              </a:defRPr>
            </a:lvl7pPr>
            <a:lvl8pPr>
              <a:defRPr sz="3150" b="1">
                <a:solidFill>
                  <a:srgbClr val="E8EDF6"/>
                </a:solidFill>
              </a:defRPr>
            </a:lvl8pPr>
            <a:lvl9pPr>
              <a:defRPr sz="3150" b="1">
                <a:solidFill>
                  <a:srgbClr val="E8EDF6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E8EDF6"/>
                </a:solidFill>
              </a:defRPr>
            </a:pPr>
            <a:r>
              <a:rPr sz="3150" b="1">
                <a:solidFill>
                  <a:srgbClr val="E8EDF6"/>
                </a:solidFill>
              </a:rPr>
              <a:t>Wer kauft, ist nicht automatisch</a:t>
            </a:r>
          </a:p>
          <a:p xmlns:a="http://schemas.openxmlformats.org/drawingml/2006/main">
            <a:pPr>
              <a:defRPr sz="3150" b="1">
                <a:solidFill>
                  <a:srgbClr val="E8EDF6"/>
                </a:solidFill>
              </a:defRPr>
            </a:pPr>
            <a:r>
              <a:rPr sz="3150" b="1">
                <a:solidFill>
                  <a:srgbClr val="E8EDF6"/>
                </a:solidFill>
              </a:rPr>
              <a:t>wegen unserer Werbung überzeugt.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054F2A-28A3-4111-BD02-0D8CB8F2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66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1D0E1"/>
                </a:solidFill>
              </a:defRPr>
            </a:defPPr>
            <a:lvl1pPr>
              <a:defRPr sz="2100" b="0">
                <a:solidFill>
                  <a:srgbClr val="C1D0E1"/>
                </a:solidFill>
              </a:defRPr>
            </a:lvl1pPr>
            <a:lvl2pPr>
              <a:defRPr sz="2100" b="0">
                <a:solidFill>
                  <a:srgbClr val="C1D0E1"/>
                </a:solidFill>
              </a:defRPr>
            </a:lvl2pPr>
            <a:lvl3pPr>
              <a:defRPr sz="2100" b="0">
                <a:solidFill>
                  <a:srgbClr val="C1D0E1"/>
                </a:solidFill>
              </a:defRPr>
            </a:lvl3pPr>
            <a:lvl4pPr>
              <a:defRPr sz="2100" b="0">
                <a:solidFill>
                  <a:srgbClr val="C1D0E1"/>
                </a:solidFill>
              </a:defRPr>
            </a:lvl4pPr>
            <a:lvl5pPr>
              <a:defRPr sz="2100" b="0">
                <a:solidFill>
                  <a:srgbClr val="C1D0E1"/>
                </a:solidFill>
              </a:defRPr>
            </a:lvl5pPr>
            <a:lvl6pPr>
              <a:defRPr sz="2100" b="0">
                <a:solidFill>
                  <a:srgbClr val="C1D0E1"/>
                </a:solidFill>
              </a:defRPr>
            </a:lvl6pPr>
            <a:lvl7pPr>
              <a:defRPr sz="2100" b="0">
                <a:solidFill>
                  <a:srgbClr val="C1D0E1"/>
                </a:solidFill>
              </a:defRPr>
            </a:lvl7pPr>
            <a:lvl8pPr>
              <a:defRPr sz="2100" b="0">
                <a:solidFill>
                  <a:srgbClr val="C1D0E1"/>
                </a:solidFill>
              </a:defRPr>
            </a:lvl8pPr>
            <a:lvl9pPr>
              <a:defRPr sz="2100" b="0">
                <a:solidFill>
                  <a:srgbClr val="C1D0E1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Ein T-Learner schätzt Unterschiede zwischen Treatment und Kontrolle.</a:t>
            </a:r>
          </a:p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Ein separater Test prüft die Auswahlpolitik.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9954AC-3A68-42E9-982E-77A77160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9D8A"/>
                </a:solidFill>
              </a:defRPr>
            </a:defPPr>
            <a:lvl1pPr>
              <a:defRPr sz="1725" b="0">
                <a:solidFill>
                  <a:srgbClr val="FF9D8A"/>
                </a:solidFill>
              </a:defRPr>
            </a:lvl1pPr>
            <a:lvl2pPr>
              <a:defRPr sz="1725" b="0">
                <a:solidFill>
                  <a:srgbClr val="FF9D8A"/>
                </a:solidFill>
              </a:defRPr>
            </a:lvl2pPr>
            <a:lvl3pPr>
              <a:defRPr sz="1725" b="0">
                <a:solidFill>
                  <a:srgbClr val="FF9D8A"/>
                </a:solidFill>
              </a:defRPr>
            </a:lvl3pPr>
            <a:lvl4pPr>
              <a:defRPr sz="1725" b="0">
                <a:solidFill>
                  <a:srgbClr val="FF9D8A"/>
                </a:solidFill>
              </a:defRPr>
            </a:lvl4pPr>
            <a:lvl5pPr>
              <a:defRPr sz="1725" b="0">
                <a:solidFill>
                  <a:srgbClr val="FF9D8A"/>
                </a:solidFill>
              </a:defRPr>
            </a:lvl5pPr>
            <a:lvl6pPr>
              <a:defRPr sz="1725" b="0">
                <a:solidFill>
                  <a:srgbClr val="FF9D8A"/>
                </a:solidFill>
              </a:defRPr>
            </a:lvl6pPr>
            <a:lvl7pPr>
              <a:defRPr sz="1725" b="0">
                <a:solidFill>
                  <a:srgbClr val="FF9D8A"/>
                </a:solidFill>
              </a:defRPr>
            </a:lvl7pPr>
            <a:lvl8pPr>
              <a:defRPr sz="1725" b="0">
                <a:solidFill>
                  <a:srgbClr val="FF9D8A"/>
                </a:solidFill>
              </a:defRPr>
            </a:lvl8pPr>
            <a:lvl9pPr>
              <a:defRPr sz="1725" b="0">
                <a:solidFill>
                  <a:srgbClr val="FF9D8A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9D8A"/>
                </a:solidFill>
              </a:defRPr>
            </a:pPr>
            <a:r>
              <a:rPr sz="1725" b="0">
                <a:solidFill>
                  <a:srgbClr val="FF9D8A"/>
                </a:solidFill>
              </a:rPr>
              <a:t>Dem sicheren Käufer einen Rabatt geben: die teuerste Form der Höflichkeit.</a:t>
            </a:r>
          </a:p>
        </p:txBody>
      </p:sp>
    </p:spTree>
    <p:extLst>
      <p:ext uri="{BB962C8B-B14F-4D97-AF65-F5344CB8AC3E}">
        <p14:creationId xmlns:p14="http://schemas.microsoft.com/office/powerpoint/2010/main" val="7124779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66B6AD-5E5E-4BEC-8877-848DA098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6DDC0"/>
                </a:solidFill>
              </a:defRPr>
            </a:defPPr>
            <a:lvl1pPr>
              <a:defRPr sz="3450" b="1">
                <a:solidFill>
                  <a:srgbClr val="56DDC0"/>
                </a:solidFill>
              </a:defRPr>
            </a:lvl1pPr>
            <a:lvl2pPr>
              <a:defRPr sz="3450" b="1">
                <a:solidFill>
                  <a:srgbClr val="56DDC0"/>
                </a:solidFill>
              </a:defRPr>
            </a:lvl2pPr>
            <a:lvl3pPr>
              <a:defRPr sz="3450" b="1">
                <a:solidFill>
                  <a:srgbClr val="56DDC0"/>
                </a:solidFill>
              </a:defRPr>
            </a:lvl3pPr>
            <a:lvl4pPr>
              <a:defRPr sz="3450" b="1">
                <a:solidFill>
                  <a:srgbClr val="56DDC0"/>
                </a:solidFill>
              </a:defRPr>
            </a:lvl4pPr>
            <a:lvl5pPr>
              <a:defRPr sz="3450" b="1">
                <a:solidFill>
                  <a:srgbClr val="56DDC0"/>
                </a:solidFill>
              </a:defRPr>
            </a:lvl5pPr>
            <a:lvl6pPr>
              <a:defRPr sz="3450" b="1">
                <a:solidFill>
                  <a:srgbClr val="56DDC0"/>
                </a:solidFill>
              </a:defRPr>
            </a:lvl6pPr>
            <a:lvl7pPr>
              <a:defRPr sz="3450" b="1">
                <a:solidFill>
                  <a:srgbClr val="56DDC0"/>
                </a:solidFill>
              </a:defRPr>
            </a:lvl7pPr>
            <a:lvl8pPr>
              <a:defRPr sz="3450" b="1">
                <a:solidFill>
                  <a:srgbClr val="56DDC0"/>
                </a:solidFill>
              </a:defRPr>
            </a:lvl8pPr>
            <a:lvl9pPr>
              <a:defRPr sz="3450" b="1">
                <a:solidFill>
                  <a:srgbClr val="56DDC0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6DDC0"/>
                </a:solidFill>
              </a:defRPr>
            </a:pPr>
            <a:r>
              <a:rPr sz="3450" b="1">
                <a:solidFill>
                  <a:srgbClr val="56DDC0"/>
                </a:solidFill>
              </a:rPr>
              <a:t>Deckungsbeitrag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A370B0-DE23-4F0B-82A9-F50CEF4C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66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E8EDF6"/>
                </a:solidFill>
              </a:defRPr>
            </a:defPPr>
            <a:lvl1pPr>
              <a:defRPr sz="3150" b="1">
                <a:solidFill>
                  <a:srgbClr val="E8EDF6"/>
                </a:solidFill>
              </a:defRPr>
            </a:lvl1pPr>
            <a:lvl2pPr>
              <a:defRPr sz="3150" b="1">
                <a:solidFill>
                  <a:srgbClr val="E8EDF6"/>
                </a:solidFill>
              </a:defRPr>
            </a:lvl2pPr>
            <a:lvl3pPr>
              <a:defRPr sz="3150" b="1">
                <a:solidFill>
                  <a:srgbClr val="E8EDF6"/>
                </a:solidFill>
              </a:defRPr>
            </a:lvl3pPr>
            <a:lvl4pPr>
              <a:defRPr sz="3150" b="1">
                <a:solidFill>
                  <a:srgbClr val="E8EDF6"/>
                </a:solidFill>
              </a:defRPr>
            </a:lvl4pPr>
            <a:lvl5pPr>
              <a:defRPr sz="3150" b="1">
                <a:solidFill>
                  <a:srgbClr val="E8EDF6"/>
                </a:solidFill>
              </a:defRPr>
            </a:lvl5pPr>
            <a:lvl6pPr>
              <a:defRPr sz="3150" b="1">
                <a:solidFill>
                  <a:srgbClr val="E8EDF6"/>
                </a:solidFill>
              </a:defRPr>
            </a:lvl6pPr>
            <a:lvl7pPr>
              <a:defRPr sz="3150" b="1">
                <a:solidFill>
                  <a:srgbClr val="E8EDF6"/>
                </a:solidFill>
              </a:defRPr>
            </a:lvl7pPr>
            <a:lvl8pPr>
              <a:defRPr sz="3150" b="1">
                <a:solidFill>
                  <a:srgbClr val="E8EDF6"/>
                </a:solidFill>
              </a:defRPr>
            </a:lvl8pPr>
            <a:lvl9pPr>
              <a:defRPr sz="3150" b="1">
                <a:solidFill>
                  <a:srgbClr val="E8EDF6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E8EDF6"/>
                </a:solidFill>
              </a:defRPr>
            </a:pPr>
            <a:r>
              <a:rPr sz="3150" b="1">
                <a:solidFill>
                  <a:srgbClr val="E8EDF6"/>
                </a:solidFill>
              </a:rPr>
              <a:t>Umsatz ist ein Anfang.</a:t>
            </a:r>
          </a:p>
          <a:p xmlns:a="http://schemas.openxmlformats.org/drawingml/2006/main">
            <a:pPr>
              <a:defRPr sz="3150" b="1">
                <a:solidFill>
                  <a:srgbClr val="E8EDF6"/>
                </a:solidFill>
              </a:defRPr>
            </a:pPr>
            <a:r>
              <a:rPr sz="3150" b="1">
                <a:solidFill>
                  <a:srgbClr val="E8EDF6"/>
                </a:solidFill>
              </a:rPr>
              <a:t>Variable Kosten haben auch eine Meinung.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FCF637-7066-4C2E-995C-D1D8559D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66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1D0E1"/>
                </a:solidFill>
              </a:defRPr>
            </a:defPPr>
            <a:lvl1pPr>
              <a:defRPr sz="2100" b="0">
                <a:solidFill>
                  <a:srgbClr val="C1D0E1"/>
                </a:solidFill>
              </a:defRPr>
            </a:lvl1pPr>
            <a:lvl2pPr>
              <a:defRPr sz="2100" b="0">
                <a:solidFill>
                  <a:srgbClr val="C1D0E1"/>
                </a:solidFill>
              </a:defRPr>
            </a:lvl2pPr>
            <a:lvl3pPr>
              <a:defRPr sz="2100" b="0">
                <a:solidFill>
                  <a:srgbClr val="C1D0E1"/>
                </a:solidFill>
              </a:defRPr>
            </a:lvl3pPr>
            <a:lvl4pPr>
              <a:defRPr sz="2100" b="0">
                <a:solidFill>
                  <a:srgbClr val="C1D0E1"/>
                </a:solidFill>
              </a:defRPr>
            </a:lvl4pPr>
            <a:lvl5pPr>
              <a:defRPr sz="2100" b="0">
                <a:solidFill>
                  <a:srgbClr val="C1D0E1"/>
                </a:solidFill>
              </a:defRPr>
            </a:lvl5pPr>
            <a:lvl6pPr>
              <a:defRPr sz="2100" b="0">
                <a:solidFill>
                  <a:srgbClr val="C1D0E1"/>
                </a:solidFill>
              </a:defRPr>
            </a:lvl6pPr>
            <a:lvl7pPr>
              <a:defRPr sz="2100" b="0">
                <a:solidFill>
                  <a:srgbClr val="C1D0E1"/>
                </a:solidFill>
              </a:defRPr>
            </a:lvl7pPr>
            <a:lvl8pPr>
              <a:defRPr sz="2100" b="0">
                <a:solidFill>
                  <a:srgbClr val="C1D0E1"/>
                </a:solidFill>
              </a:defRPr>
            </a:lvl8pPr>
            <a:lvl9pPr>
              <a:defRPr sz="2100" b="0">
                <a:solidFill>
                  <a:srgbClr val="C1D0E1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Die Story verbindet Rabatte, Retouren, Wareneinsatz und Werbung.</a:t>
            </a:r>
          </a:p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Die Simulation zeigt Annahmen ausdrücklich.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B9A85-3501-43E5-A583-DE65F687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9D8A"/>
                </a:solidFill>
              </a:defRPr>
            </a:defPPr>
            <a:lvl1pPr>
              <a:defRPr sz="1725" b="0">
                <a:solidFill>
                  <a:srgbClr val="FF9D8A"/>
                </a:solidFill>
              </a:defRPr>
            </a:lvl1pPr>
            <a:lvl2pPr>
              <a:defRPr sz="1725" b="0">
                <a:solidFill>
                  <a:srgbClr val="FF9D8A"/>
                </a:solidFill>
              </a:defRPr>
            </a:lvl2pPr>
            <a:lvl3pPr>
              <a:defRPr sz="1725" b="0">
                <a:solidFill>
                  <a:srgbClr val="FF9D8A"/>
                </a:solidFill>
              </a:defRPr>
            </a:lvl3pPr>
            <a:lvl4pPr>
              <a:defRPr sz="1725" b="0">
                <a:solidFill>
                  <a:srgbClr val="FF9D8A"/>
                </a:solidFill>
              </a:defRPr>
            </a:lvl4pPr>
            <a:lvl5pPr>
              <a:defRPr sz="1725" b="0">
                <a:solidFill>
                  <a:srgbClr val="FF9D8A"/>
                </a:solidFill>
              </a:defRPr>
            </a:lvl5pPr>
            <a:lvl6pPr>
              <a:defRPr sz="1725" b="0">
                <a:solidFill>
                  <a:srgbClr val="FF9D8A"/>
                </a:solidFill>
              </a:defRPr>
            </a:lvl6pPr>
            <a:lvl7pPr>
              <a:defRPr sz="1725" b="0">
                <a:solidFill>
                  <a:srgbClr val="FF9D8A"/>
                </a:solidFill>
              </a:defRPr>
            </a:lvl7pPr>
            <a:lvl8pPr>
              <a:defRPr sz="1725" b="0">
                <a:solidFill>
                  <a:srgbClr val="FF9D8A"/>
                </a:solidFill>
              </a:defRPr>
            </a:lvl8pPr>
            <a:lvl9pPr>
              <a:defRPr sz="1725" b="0">
                <a:solidFill>
                  <a:srgbClr val="FF9D8A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9D8A"/>
                </a:solidFill>
              </a:defRPr>
            </a:pPr>
            <a:r>
              <a:rPr sz="1725" b="0">
                <a:solidFill>
                  <a:srgbClr val="FF9D8A"/>
                </a:solidFill>
              </a:rPr>
              <a:t>Der CFO akzeptiert leider keine NDCG-Punkte als Zahlungsmittel.</a:t>
            </a:r>
          </a:p>
        </p:txBody>
      </p:sp>
    </p:spTree>
    <p:extLst>
      <p:ext uri="{BB962C8B-B14F-4D97-AF65-F5344CB8AC3E}">
        <p14:creationId xmlns:p14="http://schemas.microsoft.com/office/powerpoint/2010/main" val="15009084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C6E528-2BE6-43EC-9A19-211E11A2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6DDC0"/>
                </a:solidFill>
              </a:defRPr>
            </a:defPPr>
            <a:lvl1pPr>
              <a:defRPr sz="3450" b="1">
                <a:solidFill>
                  <a:srgbClr val="56DDC0"/>
                </a:solidFill>
              </a:defRPr>
            </a:lvl1pPr>
            <a:lvl2pPr>
              <a:defRPr sz="3450" b="1">
                <a:solidFill>
                  <a:srgbClr val="56DDC0"/>
                </a:solidFill>
              </a:defRPr>
            </a:lvl2pPr>
            <a:lvl3pPr>
              <a:defRPr sz="3450" b="1">
                <a:solidFill>
                  <a:srgbClr val="56DDC0"/>
                </a:solidFill>
              </a:defRPr>
            </a:lvl3pPr>
            <a:lvl4pPr>
              <a:defRPr sz="3450" b="1">
                <a:solidFill>
                  <a:srgbClr val="56DDC0"/>
                </a:solidFill>
              </a:defRPr>
            </a:lvl4pPr>
            <a:lvl5pPr>
              <a:defRPr sz="3450" b="1">
                <a:solidFill>
                  <a:srgbClr val="56DDC0"/>
                </a:solidFill>
              </a:defRPr>
            </a:lvl5pPr>
            <a:lvl6pPr>
              <a:defRPr sz="3450" b="1">
                <a:solidFill>
                  <a:srgbClr val="56DDC0"/>
                </a:solidFill>
              </a:defRPr>
            </a:lvl6pPr>
            <a:lvl7pPr>
              <a:defRPr sz="3450" b="1">
                <a:solidFill>
                  <a:srgbClr val="56DDC0"/>
                </a:solidFill>
              </a:defRPr>
            </a:lvl7pPr>
            <a:lvl8pPr>
              <a:defRPr sz="3450" b="1">
                <a:solidFill>
                  <a:srgbClr val="56DDC0"/>
                </a:solidFill>
              </a:defRPr>
            </a:lvl8pPr>
            <a:lvl9pPr>
              <a:defRPr sz="3450" b="1">
                <a:solidFill>
                  <a:srgbClr val="56DDC0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6DDC0"/>
                </a:solidFill>
              </a:defRPr>
            </a:pPr>
            <a:r>
              <a:rPr sz="3450" b="1">
                <a:solidFill>
                  <a:srgbClr val="56DDC0"/>
                </a:solidFill>
              </a:rPr>
              <a:t>Öffentliche Daten und Evidenz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A735B7-50A6-47DF-9FDB-5448314A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66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E8EDF6"/>
                </a:solidFill>
              </a:defRPr>
            </a:defPPr>
            <a:lvl1pPr>
              <a:defRPr sz="3150" b="1">
                <a:solidFill>
                  <a:srgbClr val="E8EDF6"/>
                </a:solidFill>
              </a:defRPr>
            </a:lvl1pPr>
            <a:lvl2pPr>
              <a:defRPr sz="3150" b="1">
                <a:solidFill>
                  <a:srgbClr val="E8EDF6"/>
                </a:solidFill>
              </a:defRPr>
            </a:lvl2pPr>
            <a:lvl3pPr>
              <a:defRPr sz="3150" b="1">
                <a:solidFill>
                  <a:srgbClr val="E8EDF6"/>
                </a:solidFill>
              </a:defRPr>
            </a:lvl3pPr>
            <a:lvl4pPr>
              <a:defRPr sz="3150" b="1">
                <a:solidFill>
                  <a:srgbClr val="E8EDF6"/>
                </a:solidFill>
              </a:defRPr>
            </a:lvl4pPr>
            <a:lvl5pPr>
              <a:defRPr sz="3150" b="1">
                <a:solidFill>
                  <a:srgbClr val="E8EDF6"/>
                </a:solidFill>
              </a:defRPr>
            </a:lvl5pPr>
            <a:lvl6pPr>
              <a:defRPr sz="3150" b="1">
                <a:solidFill>
                  <a:srgbClr val="E8EDF6"/>
                </a:solidFill>
              </a:defRPr>
            </a:lvl6pPr>
            <a:lvl7pPr>
              <a:defRPr sz="3150" b="1">
                <a:solidFill>
                  <a:srgbClr val="E8EDF6"/>
                </a:solidFill>
              </a:defRPr>
            </a:lvl7pPr>
            <a:lvl8pPr>
              <a:defRPr sz="3150" b="1">
                <a:solidFill>
                  <a:srgbClr val="E8EDF6"/>
                </a:solidFill>
              </a:defRPr>
            </a:lvl8pPr>
            <a:lvl9pPr>
              <a:defRPr sz="3150" b="1">
                <a:solidFill>
                  <a:srgbClr val="E8EDF6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E8EDF6"/>
                </a:solidFill>
              </a:defRPr>
            </a:pPr>
            <a:r>
              <a:rPr sz="3150" b="1">
                <a:solidFill>
                  <a:srgbClr val="E8EDF6"/>
                </a:solidFill>
              </a:rPr>
              <a:t>Jeder Datensatz beantwortet</a:t>
            </a:r>
          </a:p>
          <a:p xmlns:a="http://schemas.openxmlformats.org/drawingml/2006/main">
            <a:pPr>
              <a:defRPr sz="3150" b="1">
                <a:solidFill>
                  <a:srgbClr val="E8EDF6"/>
                </a:solidFill>
              </a:defRPr>
            </a:pPr>
            <a:r>
              <a:rPr sz="3150" b="1">
                <a:solidFill>
                  <a:srgbClr val="E8EDF6"/>
                </a:solidFill>
              </a:rPr>
              <a:t>eine eigene Frage.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4FAEE2-750B-4C1B-BA1C-4C713C36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66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1D0E1"/>
                </a:solidFill>
              </a:defRPr>
            </a:defPPr>
            <a:lvl1pPr>
              <a:defRPr sz="2100" b="0">
                <a:solidFill>
                  <a:srgbClr val="C1D0E1"/>
                </a:solidFill>
              </a:defRPr>
            </a:lvl1pPr>
            <a:lvl2pPr>
              <a:defRPr sz="2100" b="0">
                <a:solidFill>
                  <a:srgbClr val="C1D0E1"/>
                </a:solidFill>
              </a:defRPr>
            </a:lvl2pPr>
            <a:lvl3pPr>
              <a:defRPr sz="2100" b="0">
                <a:solidFill>
                  <a:srgbClr val="C1D0E1"/>
                </a:solidFill>
              </a:defRPr>
            </a:lvl3pPr>
            <a:lvl4pPr>
              <a:defRPr sz="2100" b="0">
                <a:solidFill>
                  <a:srgbClr val="C1D0E1"/>
                </a:solidFill>
              </a:defRPr>
            </a:lvl4pPr>
            <a:lvl5pPr>
              <a:defRPr sz="2100" b="0">
                <a:solidFill>
                  <a:srgbClr val="C1D0E1"/>
                </a:solidFill>
              </a:defRPr>
            </a:lvl5pPr>
            <a:lvl6pPr>
              <a:defRPr sz="2100" b="0">
                <a:solidFill>
                  <a:srgbClr val="C1D0E1"/>
                </a:solidFill>
              </a:defRPr>
            </a:lvl6pPr>
            <a:lvl7pPr>
              <a:defRPr sz="2100" b="0">
                <a:solidFill>
                  <a:srgbClr val="C1D0E1"/>
                </a:solidFill>
              </a:defRPr>
            </a:lvl7pPr>
            <a:lvl8pPr>
              <a:defRPr sz="2100" b="0">
                <a:solidFill>
                  <a:srgbClr val="C1D0E1"/>
                </a:solidFill>
              </a:defRPr>
            </a:lvl8pPr>
            <a:lvl9pPr>
              <a:defRPr sz="2100" b="0">
                <a:solidFill>
                  <a:srgbClr val="C1D0E1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Retailrocket und REES46: Ereignisse. Amazon-M2: Sessions.</a:t>
            </a:r>
          </a:p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Amazon Reviews: Rezensionen. ESCI: Suchrelevanz.</a:t>
            </a:r>
          </a:p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Criteo: Treatment und Kontrolle.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ED092-BEE4-49BA-AB08-162BA485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9D8A"/>
                </a:solidFill>
              </a:defRPr>
            </a:defPPr>
            <a:lvl1pPr>
              <a:defRPr sz="1725" b="0">
                <a:solidFill>
                  <a:srgbClr val="FF9D8A"/>
                </a:solidFill>
              </a:defRPr>
            </a:lvl1pPr>
            <a:lvl2pPr>
              <a:defRPr sz="1725" b="0">
                <a:solidFill>
                  <a:srgbClr val="FF9D8A"/>
                </a:solidFill>
              </a:defRPr>
            </a:lvl2pPr>
            <a:lvl3pPr>
              <a:defRPr sz="1725" b="0">
                <a:solidFill>
                  <a:srgbClr val="FF9D8A"/>
                </a:solidFill>
              </a:defRPr>
            </a:lvl3pPr>
            <a:lvl4pPr>
              <a:defRPr sz="1725" b="0">
                <a:solidFill>
                  <a:srgbClr val="FF9D8A"/>
                </a:solidFill>
              </a:defRPr>
            </a:lvl4pPr>
            <a:lvl5pPr>
              <a:defRPr sz="1725" b="0">
                <a:solidFill>
                  <a:srgbClr val="FF9D8A"/>
                </a:solidFill>
              </a:defRPr>
            </a:lvl5pPr>
            <a:lvl6pPr>
              <a:defRPr sz="1725" b="0">
                <a:solidFill>
                  <a:srgbClr val="FF9D8A"/>
                </a:solidFill>
              </a:defRPr>
            </a:lvl6pPr>
            <a:lvl7pPr>
              <a:defRPr sz="1725" b="0">
                <a:solidFill>
                  <a:srgbClr val="FF9D8A"/>
                </a:solidFill>
              </a:defRPr>
            </a:lvl7pPr>
            <a:lvl8pPr>
              <a:defRPr sz="1725" b="0">
                <a:solidFill>
                  <a:srgbClr val="FF9D8A"/>
                </a:solidFill>
              </a:defRPr>
            </a:lvl8pPr>
            <a:lvl9pPr>
              <a:defRPr sz="1725" b="0">
                <a:solidFill>
                  <a:srgbClr val="FF9D8A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9D8A"/>
                </a:solidFill>
              </a:defRPr>
            </a:pPr>
            <a:r>
              <a:rPr sz="1725" b="0">
                <a:solidFill>
                  <a:srgbClr val="FF9D8A"/>
                </a:solidFill>
              </a:rPr>
              <a:t>Kunden-IDs verschiedener Shops sind keine Fernbeziehung.</a:t>
            </a:r>
          </a:p>
        </p:txBody>
      </p:sp>
    </p:spTree>
    <p:extLst>
      <p:ext uri="{BB962C8B-B14F-4D97-AF65-F5344CB8AC3E}">
        <p14:creationId xmlns:p14="http://schemas.microsoft.com/office/powerpoint/2010/main" val="10649645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09382B-C25A-4AED-A1A8-0DD67D7E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6DDC0"/>
                </a:solidFill>
              </a:defRPr>
            </a:defPPr>
            <a:lvl1pPr>
              <a:defRPr sz="3450" b="1">
                <a:solidFill>
                  <a:srgbClr val="56DDC0"/>
                </a:solidFill>
              </a:defRPr>
            </a:lvl1pPr>
            <a:lvl2pPr>
              <a:defRPr sz="3450" b="1">
                <a:solidFill>
                  <a:srgbClr val="56DDC0"/>
                </a:solidFill>
              </a:defRPr>
            </a:lvl2pPr>
            <a:lvl3pPr>
              <a:defRPr sz="3450" b="1">
                <a:solidFill>
                  <a:srgbClr val="56DDC0"/>
                </a:solidFill>
              </a:defRPr>
            </a:lvl3pPr>
            <a:lvl4pPr>
              <a:defRPr sz="3450" b="1">
                <a:solidFill>
                  <a:srgbClr val="56DDC0"/>
                </a:solidFill>
              </a:defRPr>
            </a:lvl4pPr>
            <a:lvl5pPr>
              <a:defRPr sz="3450" b="1">
                <a:solidFill>
                  <a:srgbClr val="56DDC0"/>
                </a:solidFill>
              </a:defRPr>
            </a:lvl5pPr>
            <a:lvl6pPr>
              <a:defRPr sz="3450" b="1">
                <a:solidFill>
                  <a:srgbClr val="56DDC0"/>
                </a:solidFill>
              </a:defRPr>
            </a:lvl6pPr>
            <a:lvl7pPr>
              <a:defRPr sz="3450" b="1">
                <a:solidFill>
                  <a:srgbClr val="56DDC0"/>
                </a:solidFill>
              </a:defRPr>
            </a:lvl7pPr>
            <a:lvl8pPr>
              <a:defRPr sz="3450" b="1">
                <a:solidFill>
                  <a:srgbClr val="56DDC0"/>
                </a:solidFill>
              </a:defRPr>
            </a:lvl8pPr>
            <a:lvl9pPr>
              <a:defRPr sz="3450" b="1">
                <a:solidFill>
                  <a:srgbClr val="56DDC0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6DDC0"/>
                </a:solidFill>
              </a:defRPr>
            </a:pPr>
            <a:r>
              <a:rPr sz="3450" b="1">
                <a:solidFill>
                  <a:srgbClr val="56DDC0"/>
                </a:solidFill>
              </a:rPr>
              <a:t>Das Portfolio im Gespräch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90C345-39A3-4770-93E1-1D4BB2AA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66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E8EDF6"/>
                </a:solidFill>
              </a:defRPr>
            </a:defPPr>
            <a:lvl1pPr>
              <a:defRPr sz="3150" b="1">
                <a:solidFill>
                  <a:srgbClr val="E8EDF6"/>
                </a:solidFill>
              </a:defRPr>
            </a:lvl1pPr>
            <a:lvl2pPr>
              <a:defRPr sz="3150" b="1">
                <a:solidFill>
                  <a:srgbClr val="E8EDF6"/>
                </a:solidFill>
              </a:defRPr>
            </a:lvl2pPr>
            <a:lvl3pPr>
              <a:defRPr sz="3150" b="1">
                <a:solidFill>
                  <a:srgbClr val="E8EDF6"/>
                </a:solidFill>
              </a:defRPr>
            </a:lvl3pPr>
            <a:lvl4pPr>
              <a:defRPr sz="3150" b="1">
                <a:solidFill>
                  <a:srgbClr val="E8EDF6"/>
                </a:solidFill>
              </a:defRPr>
            </a:lvl4pPr>
            <a:lvl5pPr>
              <a:defRPr sz="3150" b="1">
                <a:solidFill>
                  <a:srgbClr val="E8EDF6"/>
                </a:solidFill>
              </a:defRPr>
            </a:lvl5pPr>
            <a:lvl6pPr>
              <a:defRPr sz="3150" b="1">
                <a:solidFill>
                  <a:srgbClr val="E8EDF6"/>
                </a:solidFill>
              </a:defRPr>
            </a:lvl6pPr>
            <a:lvl7pPr>
              <a:defRPr sz="3150" b="1">
                <a:solidFill>
                  <a:srgbClr val="E8EDF6"/>
                </a:solidFill>
              </a:defRPr>
            </a:lvl7pPr>
            <a:lvl8pPr>
              <a:defRPr sz="3150" b="1">
                <a:solidFill>
                  <a:srgbClr val="E8EDF6"/>
                </a:solidFill>
              </a:defRPr>
            </a:lvl8pPr>
            <a:lvl9pPr>
              <a:defRPr sz="3150" b="1">
                <a:solidFill>
                  <a:srgbClr val="E8EDF6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E8EDF6"/>
                </a:solidFill>
              </a:defRPr>
            </a:pPr>
            <a:r>
              <a:rPr sz="3150" b="1">
                <a:solidFill>
                  <a:srgbClr val="E8EDF6"/>
                </a:solidFill>
              </a:rPr>
              <a:t>Ein Geschäftsproblem.</a:t>
            </a:r>
          </a:p>
          <a:p xmlns:a="http://schemas.openxmlformats.org/drawingml/2006/main">
            <a:pPr>
              <a:defRPr sz="3150" b="1">
                <a:solidFill>
                  <a:srgbClr val="E8EDF6"/>
                </a:solidFill>
              </a:defRPr>
            </a:pPr>
            <a:r>
              <a:rPr sz="3150" b="1">
                <a:solidFill>
                  <a:srgbClr val="E8EDF6"/>
                </a:solidFill>
              </a:rPr>
              <a:t>Mehrere überprüfbare Lösungswege.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D8FE79-CE0F-4781-9A65-D164EBBE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66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C1D0E1"/>
                </a:solidFill>
              </a:defRPr>
            </a:defPPr>
            <a:lvl1pPr>
              <a:defRPr sz="2100" b="0">
                <a:solidFill>
                  <a:srgbClr val="C1D0E1"/>
                </a:solidFill>
              </a:defRPr>
            </a:lvl1pPr>
            <a:lvl2pPr>
              <a:defRPr sz="2100" b="0">
                <a:solidFill>
                  <a:srgbClr val="C1D0E1"/>
                </a:solidFill>
              </a:defRPr>
            </a:lvl2pPr>
            <a:lvl3pPr>
              <a:defRPr sz="2100" b="0">
                <a:solidFill>
                  <a:srgbClr val="C1D0E1"/>
                </a:solidFill>
              </a:defRPr>
            </a:lvl3pPr>
            <a:lvl4pPr>
              <a:defRPr sz="2100" b="0">
                <a:solidFill>
                  <a:srgbClr val="C1D0E1"/>
                </a:solidFill>
              </a:defRPr>
            </a:lvl4pPr>
            <a:lvl5pPr>
              <a:defRPr sz="2100" b="0">
                <a:solidFill>
                  <a:srgbClr val="C1D0E1"/>
                </a:solidFill>
              </a:defRPr>
            </a:lvl5pPr>
            <a:lvl6pPr>
              <a:defRPr sz="2100" b="0">
                <a:solidFill>
                  <a:srgbClr val="C1D0E1"/>
                </a:solidFill>
              </a:defRPr>
            </a:lvl6pPr>
            <a:lvl7pPr>
              <a:defRPr sz="2100" b="0">
                <a:solidFill>
                  <a:srgbClr val="C1D0E1"/>
                </a:solidFill>
              </a:defRPr>
            </a:lvl7pPr>
            <a:lvl8pPr>
              <a:defRPr sz="2100" b="0">
                <a:solidFill>
                  <a:srgbClr val="C1D0E1"/>
                </a:solidFill>
              </a:defRPr>
            </a:lvl8pPr>
            <a:lvl9pPr>
              <a:defRPr sz="2100" b="0">
                <a:solidFill>
                  <a:srgbClr val="C1D0E1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Deutsche Streamlit-Story und ausführbare Trainingslabore.</a:t>
            </a:r>
          </a:p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Reproduzierbare Protokolle, Kostenannahmen und Tests.</a:t>
            </a:r>
          </a:p>
          <a:p xmlns:a="http://schemas.openxmlformats.org/drawingml/2006/main">
            <a:pPr>
              <a:defRPr sz="2100" b="0">
                <a:solidFill>
                  <a:srgbClr val="C1D0E1"/>
                </a:solidFill>
              </a:defRPr>
            </a:pPr>
            <a:r>
              <a:rPr sz="2100" b="0">
                <a:solidFill>
                  <a:srgbClr val="C1D0E1"/>
                </a:solidFill>
              </a:rPr>
              <a:t>Kompakte Modelle mit klaren Grenzen.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4641EC-A434-41A1-A70A-914256AD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9D8A"/>
                </a:solidFill>
              </a:defRPr>
            </a:defPPr>
            <a:lvl1pPr>
              <a:defRPr sz="1725" b="0">
                <a:solidFill>
                  <a:srgbClr val="FF9D8A"/>
                </a:solidFill>
              </a:defRPr>
            </a:lvl1pPr>
            <a:lvl2pPr>
              <a:defRPr sz="1725" b="0">
                <a:solidFill>
                  <a:srgbClr val="FF9D8A"/>
                </a:solidFill>
              </a:defRPr>
            </a:lvl2pPr>
            <a:lvl3pPr>
              <a:defRPr sz="1725" b="0">
                <a:solidFill>
                  <a:srgbClr val="FF9D8A"/>
                </a:solidFill>
              </a:defRPr>
            </a:lvl3pPr>
            <a:lvl4pPr>
              <a:defRPr sz="1725" b="0">
                <a:solidFill>
                  <a:srgbClr val="FF9D8A"/>
                </a:solidFill>
              </a:defRPr>
            </a:lvl4pPr>
            <a:lvl5pPr>
              <a:defRPr sz="1725" b="0">
                <a:solidFill>
                  <a:srgbClr val="FF9D8A"/>
                </a:solidFill>
              </a:defRPr>
            </a:lvl5pPr>
            <a:lvl6pPr>
              <a:defRPr sz="1725" b="0">
                <a:solidFill>
                  <a:srgbClr val="FF9D8A"/>
                </a:solidFill>
              </a:defRPr>
            </a:lvl6pPr>
            <a:lvl7pPr>
              <a:defRPr sz="1725" b="0">
                <a:solidFill>
                  <a:srgbClr val="FF9D8A"/>
                </a:solidFill>
              </a:defRPr>
            </a:lvl7pPr>
            <a:lvl8pPr>
              <a:defRPr sz="1725" b="0">
                <a:solidFill>
                  <a:srgbClr val="FF9D8A"/>
                </a:solidFill>
              </a:defRPr>
            </a:lvl8pPr>
            <a:lvl9pPr>
              <a:defRPr sz="1725" b="0">
                <a:solidFill>
                  <a:srgbClr val="FF9D8A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9D8A"/>
                </a:solidFill>
              </a:defRPr>
            </a:pPr>
            <a:r>
              <a:rPr sz="1725" b="0">
                <a:solidFill>
                  <a:srgbClr val="FF9D8A"/>
                </a:solidFill>
              </a:rPr>
              <a:t>Die Simulation ist fiktiv. Die Implementierung muss trotzdem funktionieren.</a:t>
            </a:r>
          </a:p>
        </p:txBody>
      </p:sp>
    </p:spTree>
    <p:extLst>
      <p:ext uri="{BB962C8B-B14F-4D97-AF65-F5344CB8AC3E}">
        <p14:creationId xmlns:p14="http://schemas.microsoft.com/office/powerpoint/2010/main" val="5339179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2026-10-26T19:25:47.2780000Z</dcterms:created>
  <dcterms:modified xsi:type="dcterms:W3CDTF">2026-10-26T19:25:47.2780000Z</dcterms:modified>
</coreProperties>
</file>