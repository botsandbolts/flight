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40fa9586094093" /><Relationship Type="http://schemas.openxmlformats.org/officeDocument/2006/relationships/extended-properties" Target="/docProps/app.xml" Id="Rc35bb7b6b52b4420" /><Relationship Type="http://schemas.openxmlformats.org/officeDocument/2006/relationships/officeDocument" Target="/ppt/presentation.xml" Id="Rae0977e413384c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8801c0676e40de"/>
  </p:sldMasterIdLst>
  <p:notesMasterIdLst>
    <p:notesMasterId xmlns:r="http://schemas.openxmlformats.org/officeDocument/2006/relationships" r:id="R991e38f0fcee423f"/>
  </p:notesMasterIdLst>
  <p:sldIdLst>
    <p:sldId xmlns:r="http://schemas.openxmlformats.org/officeDocument/2006/relationships" id="256" r:id="Rcb8762961fee4d5b"/>
    <p:sldId xmlns:r="http://schemas.openxmlformats.org/officeDocument/2006/relationships" id="257" r:id="Re0ea74ab0b8d4154"/>
    <p:sldId xmlns:r="http://schemas.openxmlformats.org/officeDocument/2006/relationships" id="258" r:id="R224175df81024c01"/>
    <p:sldId xmlns:r="http://schemas.openxmlformats.org/officeDocument/2006/relationships" id="259" r:id="Rc69b8817a0c640e9"/>
    <p:sldId xmlns:r="http://schemas.openxmlformats.org/officeDocument/2006/relationships" id="260" r:id="Re36c8ba518fe447d"/>
    <p:sldId xmlns:r="http://schemas.openxmlformats.org/officeDocument/2006/relationships" id="261" r:id="R440cf18b583649c6"/>
    <p:sldId xmlns:r="http://schemas.openxmlformats.org/officeDocument/2006/relationships" id="262" r:id="R806cb28570314063"/>
    <p:sldId xmlns:r="http://schemas.openxmlformats.org/officeDocument/2006/relationships" id="263" r:id="R2e064249109b4e69"/>
    <p:sldId xmlns:r="http://schemas.openxmlformats.org/officeDocument/2006/relationships" id="264" r:id="Refa50a08526b4f8c"/>
    <p:sldId xmlns:r="http://schemas.openxmlformats.org/officeDocument/2006/relationships" id="265" r:id="R236a1b5418974524"/>
    <p:sldId xmlns:r="http://schemas.openxmlformats.org/officeDocument/2006/relationships" id="266" r:id="R3134acdc47c84ba2"/>
    <p:sldId xmlns:r="http://schemas.openxmlformats.org/officeDocument/2006/relationships" id="267" r:id="R23349d08553941a6"/>
    <p:sldId xmlns:r="http://schemas.openxmlformats.org/officeDocument/2006/relationships" id="268" r:id="R13c8edcfa4304633"/>
    <p:sldId xmlns:r="http://schemas.openxmlformats.org/officeDocument/2006/relationships" id="269" r:id="R8b3f2134a48c402d"/>
    <p:sldId xmlns:r="http://schemas.openxmlformats.org/officeDocument/2006/relationships" id="270" r:id="Rdd4ea450000a49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c4a75ba01e4c54" /><Relationship Type="http://schemas.openxmlformats.org/officeDocument/2006/relationships/slideMaster" Target="/ppt/slideMasters/slideMaster1.xml" Id="Rc48801c0676e40de" /><Relationship Type="http://schemas.openxmlformats.org/officeDocument/2006/relationships/notesMaster" Target="/ppt/notesMasters/notesMaster1.xml" Id="R991e38f0fcee423f" /><Relationship Type="http://schemas.openxmlformats.org/officeDocument/2006/relationships/presProps" Target="/ppt/presProps.xml" Id="R0f4a5cf4bdb54151" /><Relationship Type="http://schemas.openxmlformats.org/officeDocument/2006/relationships/tableStyles" Target="/ppt/tableStyles.xml" Id="R3bd4603afaef4ddd" /><Relationship Type="http://schemas.openxmlformats.org/officeDocument/2006/relationships/slide" Target="/ppt/slides/slide1.xml" Id="Rcb8762961fee4d5b" /><Relationship Type="http://schemas.openxmlformats.org/officeDocument/2006/relationships/slide" Target="/ppt/slides/slide2.xml" Id="Re0ea74ab0b8d4154" /><Relationship Type="http://schemas.openxmlformats.org/officeDocument/2006/relationships/slide" Target="/ppt/slides/slide3.xml" Id="R224175df81024c01" /><Relationship Type="http://schemas.openxmlformats.org/officeDocument/2006/relationships/slide" Target="/ppt/slides/slide4.xml" Id="Rc69b8817a0c640e9" /><Relationship Type="http://schemas.openxmlformats.org/officeDocument/2006/relationships/slide" Target="/ppt/slides/slide5.xml" Id="Re36c8ba518fe447d" /><Relationship Type="http://schemas.openxmlformats.org/officeDocument/2006/relationships/slide" Target="/ppt/slides/slide6.xml" Id="R440cf18b583649c6" /><Relationship Type="http://schemas.openxmlformats.org/officeDocument/2006/relationships/slide" Target="/ppt/slides/slide7.xml" Id="R806cb28570314063" /><Relationship Type="http://schemas.openxmlformats.org/officeDocument/2006/relationships/slide" Target="/ppt/slides/slide8.xml" Id="R2e064249109b4e69" /><Relationship Type="http://schemas.openxmlformats.org/officeDocument/2006/relationships/slide" Target="/ppt/slides/slide9.xml" Id="Refa50a08526b4f8c" /><Relationship Type="http://schemas.openxmlformats.org/officeDocument/2006/relationships/slide" Target="/ppt/slides/slide10.xml" Id="R236a1b5418974524" /><Relationship Type="http://schemas.openxmlformats.org/officeDocument/2006/relationships/slide" Target="/ppt/slides/slide11.xml" Id="R3134acdc47c84ba2" /><Relationship Type="http://schemas.openxmlformats.org/officeDocument/2006/relationships/slide" Target="/ppt/slides/slide12.xml" Id="R23349d08553941a6" /><Relationship Type="http://schemas.openxmlformats.org/officeDocument/2006/relationships/slide" Target="/ppt/slides/slide13.xml" Id="R13c8edcfa4304633" /><Relationship Type="http://schemas.openxmlformats.org/officeDocument/2006/relationships/slide" Target="/ppt/slides/slide14.xml" Id="R8b3f2134a48c402d" /><Relationship Type="http://schemas.openxmlformats.org/officeDocument/2006/relationships/slide" Target="/ppt/slides/slide15.xml" Id="Rdd4ea450000a49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a2d3c75fe04f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7b5302613a46a5" /><Relationship Type="http://schemas.openxmlformats.org/officeDocument/2006/relationships/notesMaster" Target="/ppt/notesMasters/notesMaster1.xml" Id="R5e7b51b8e3cd4a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04c2546d1e4182" /><Relationship Type="http://schemas.openxmlformats.org/officeDocument/2006/relationships/notesMaster" Target="/ppt/notesMasters/notesMaster1.xml" Id="Rdb4cb238b7f94e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d3d380f15c465a" /><Relationship Type="http://schemas.openxmlformats.org/officeDocument/2006/relationships/notesMaster" Target="/ppt/notesMasters/notesMaster1.xml" Id="R6a0442ffdfc946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0efe01bc4f4d5c" /><Relationship Type="http://schemas.openxmlformats.org/officeDocument/2006/relationships/notesMaster" Target="/ppt/notesMasters/notesMaster1.xml" Id="Ra3eaa644d3ea4d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f232ddc3c64833" /><Relationship Type="http://schemas.openxmlformats.org/officeDocument/2006/relationships/notesMaster" Target="/ppt/notesMasters/notesMaster1.xml" Id="R15276a8d68cb42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c7d275530344c5" /><Relationship Type="http://schemas.openxmlformats.org/officeDocument/2006/relationships/notesMaster" Target="/ppt/notesMasters/notesMaster1.xml" Id="R44ada36a63654a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f23f68186040c8" /><Relationship Type="http://schemas.openxmlformats.org/officeDocument/2006/relationships/notesMaster" Target="/ppt/notesMasters/notesMaster1.xml" Id="R8421a877da4946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c56484c10d48e8" /><Relationship Type="http://schemas.openxmlformats.org/officeDocument/2006/relationships/notesMaster" Target="/ppt/notesMasters/notesMaster1.xml" Id="R6f8399329d4444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c04aa1cf214ca3" /><Relationship Type="http://schemas.openxmlformats.org/officeDocument/2006/relationships/notesMaster" Target="/ppt/notesMasters/notesMaster1.xml" Id="R4acb32844d984d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034965d4864146" /><Relationship Type="http://schemas.openxmlformats.org/officeDocument/2006/relationships/notesMaster" Target="/ppt/notesMasters/notesMaster1.xml" Id="R3c4a4e830e174b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f9f378906345dd" /><Relationship Type="http://schemas.openxmlformats.org/officeDocument/2006/relationships/notesMaster" Target="/ppt/notesMasters/notesMaster1.xml" Id="R8ac9dc9b82e44e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0d81067fcd4cfc" /><Relationship Type="http://schemas.openxmlformats.org/officeDocument/2006/relationships/notesMaster" Target="/ppt/notesMasters/notesMaster1.xml" Id="R8a9fb3386e844c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2204540a65e4833" /><Relationship Type="http://schemas.openxmlformats.org/officeDocument/2006/relationships/notesMaster" Target="/ppt/notesMasters/notesMaster1.xml" Id="R6333def296a24e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e26ca7ff2b4ec0" /><Relationship Type="http://schemas.openxmlformats.org/officeDocument/2006/relationships/notesMaster" Target="/ppt/notesMasters/notesMaster1.xml" Id="Rf9b403201e5a42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bb69537f9fd4e66" /><Relationship Type="http://schemas.openxmlformats.org/officeDocument/2006/relationships/notesMaster" Target="/ppt/notesMasters/notesMaster1.xml" Id="R6b3adb14aff54c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KI-generierte Illustration. Alle Zahlen in den folgenden Rechenbeispielen sind ausdrücklich Annahmen. Diese Präsentation erklärt Entscheidungslogik, keine nachgewiesene Umsatzsteigerung.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Anna soll das passende Produkt finden. Der Shop soll daran wirtschaftlich arbeiten.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Ein verständlicher Kundenwunsch verbindet Produktauswahl und betriebliche Entscheidungen.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Erst die Geschäftsfrage klären. Danach das passende Werkzeug wählen.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 Katalogwerte. Sentence Transformers und CLIP sind im separaten Suchstudio optional ausführbar. Hier wird keine echte semantische Modellqualität behauptet. Suchrelevanz-Datensatz: https://github.com/amazon-science/esci-data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Die Suche gleicht den Wunsch mit dem Katalog ab und hält das Budget ein.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Empfehlungen reagieren auf beobachtete Interessen. Alternativen und Zubehör erfüllen unterschiedliche Zwecke.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Eigenständiges 100-Euro-Rechenbeispiel, kein behaupteter Preis der Mokka Mini. 100 - 50 - 6 - 8 - 12 = 24. Retouren sind eine pauschale erwartete Kostenposition, kein separates Rückerstattungsmodell.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24 € bleiben für weitere Kosten. Ein Rabatt von 10 € reduziert diesen Betrag auf 14 €.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Formel je Kontakt: (p1-p0)*40 - p1*10 - 0.2. Potenzielle Kaufwahrscheinlichkeiten sind erfunden und bekannt. Echte individuelle Gegeneffekte sind nicht beobachtbar. Criteo untersucht Werbung und liefert keinen gemessenen Gutscheineffekt für diesen Shop. https://huggingface.co/datasets/criteo/criteo-uplift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Der zusätzliche Beitrag berücksichtigt auch Gutscheine für ohnehin stattfindende Käufe.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Beim angenommenen Bedarf fehlen 100 Stück für die sieben Tage. Der konkrete Liefertermin bleibt ungeklärt.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Ein Sprachmodell kann erklären und formulieren. Zahlen und bestätigte Fakten kommen aus den zuständigen Werkzeugen.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Das Team erhält einen nachvollziehbaren Vorschlag. Es bestätigt Lieferfähigkeit und weitere Aktionen.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Produktfamilien ChatGPT/OpenAI und Claude/Anthropic werden ohne Qualitätsrangliste beschrieben. Im Code sind OpenAI Responses API und Anthropic Messages API für Textentwürfe vorhanden. Sie wählen hier keine Tools autonom. Quellen: https://developers.openai.com/api/docs/guides/tools ; https://platform.claude.com/docs/en/agents-and-tools/tool-use/how-tool-use-works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Das Sprachmodell formuliert einen Entwurf. Der bestätigte Liefertermin muss aus einem zuständigen System kommen.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Kontrolle: 25/1000 = 2,5 %. Variante: 29/1000 = 2,9 %. Differenz 0,4 Prozentpunkte. Wald-SE = sqrt(.025*.975/1000 + .029*.971/1000). Gerundete Lehrzahlen, keine erhobene Studie. Reale Experimente brauchen Randomisierung und einen vorab definierten Analyseplan.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Vier zusätzliche Käufe bei 1.000 Personen je Gruppe belegen in diesem Lehrbeispiel noch keinen positiven Effekt.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Das Portfolio zeigt die Umsetzung einer Geschäftsfrage. Der nächste Produktionsschritt wäre ein begrenzter Pilot mit Messung.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Fiktiver Shop und synthetisches Rechenbeispiel. Keine nachgewiesene wirtschaftliche Verbesserung.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Die Methoden beantworten verschiedene Fragen. Kein einzelnes Modell ersetzt die gesamte Entscheidungskette.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Quellen: https://www.kaggle.com/datasets/retailrocket/ecommerce-dataset ; https://rees46.com/en/datasets ; https://github.com/HaitaoMao/Amazon-M2-Session-Recommendation ; https://amazon-reviews-2023.github.io/ ; https://github.com/amazon-science/esci-data ; https://huggingface.co/datasets/criteo/criteo-uplift . Zugang und jeweilige Nutzungsbedingungen vor Einsatz prüfen. Criteo: CC-BY-NC-SA-4.0, nichtuniform subsampelt. Kosten- und Bestandsdaten fehlen in den gewählten öffentlichen Verhaltensdaten.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Kernaussage: Die Quellen bleiben getrennte Aufgaben. Sie bilden keinen gemeinsamen Kunden und keinen gemeinsamen Shop 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db08e73b8c41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81d12523e04fb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805a9077e4459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2825fc4064c8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072c5f98fe4b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8747363e34c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6C1521-75EB-4A37-B813-6AD576B4C2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2639FC0-85EA-4C03-93C0-E00F77722D0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7F6275-82F2-4020-81BC-85061296D6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61B268-191A-4239-A4E4-82F9015026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CDD64FD-D9D0-4879-BBC6-5F0F65D9B5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2A8CACB-1DD2-4074-8AEE-A0E966C904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36C43E-ABF1-4178-8036-0BD7F788F0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50A04D9-B8DC-4D1A-8A36-748B8B32796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3CB1F3-BB4E-4BC5-8870-6A0831FABD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B93DD3A-C838-4591-9BB1-47E6BDFAD2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5a06294fb84782" /><Relationship Type="http://schemas.openxmlformats.org/officeDocument/2006/relationships/slideLayout" Target="/ppt/slideLayouts/slideLayout1.xml" Id="R0d2c75e43fbd4f51" /><Relationship Type="http://schemas.openxmlformats.org/officeDocument/2006/relationships/slideLayout" Target="/ppt/slideLayouts/slideLayout2.xml" Id="Rcd3ba13ca036475a" /><Relationship Type="http://schemas.openxmlformats.org/officeDocument/2006/relationships/slideLayout" Target="/ppt/slideLayouts/slideLayout3.xml" Id="Refa81e66a1cc4336" /><Relationship Type="http://schemas.openxmlformats.org/officeDocument/2006/relationships/slideLayout" Target="/ppt/slideLayouts/slideLayout4.xml" Id="R13443dccddc84bee" /><Relationship Type="http://schemas.openxmlformats.org/officeDocument/2006/relationships/slideLayout" Target="/ppt/slideLayouts/slideLayout5.xml" Id="Ra6d8039e15c44396" /><Relationship Type="http://schemas.openxmlformats.org/officeDocument/2006/relationships/slideLayout" Target="/ppt/slideLayouts/slideLayout6.xml" Id="R93438964109240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2c75e43fbd4f51"/>
    <p:sldLayoutId xmlns:r="http://schemas.openxmlformats.org/officeDocument/2006/relationships" id="2147483650" r:id="Rcd3ba13ca036475a"/>
    <p:sldLayoutId xmlns:r="http://schemas.openxmlformats.org/officeDocument/2006/relationships" id="2147483651" r:id="Refa81e66a1cc4336"/>
    <p:sldLayoutId xmlns:r="http://schemas.openxmlformats.org/officeDocument/2006/relationships" id="2147483652" r:id="R13443dccddc84bee"/>
    <p:sldLayoutId xmlns:r="http://schemas.openxmlformats.org/officeDocument/2006/relationships" id="2147483653" r:id="Ra6d8039e15c44396"/>
    <p:sldLayoutId xmlns:r="http://schemas.openxmlformats.org/officeDocument/2006/relationships" id="2147483654" r:id="R93438964109240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8f80b9eadc4c9c" /><Relationship Type="http://schemas.openxmlformats.org/officeDocument/2006/relationships/image" Target="/ppt/media/image.jpeg" Id="R42ec92ee557a4ad4" /><Relationship Type="http://schemas.openxmlformats.org/officeDocument/2006/relationships/notesSlide" Target="/ppt/notesSlides/notesSlide1.xml" Id="R108f9d1424a542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43cc795ea0465f" /><Relationship Type="http://schemas.openxmlformats.org/officeDocument/2006/relationships/notesSlide" Target="/ppt/notesSlides/notesSlide2.xml" Id="R89bfc5e967ee45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c2707f05334c71" /><Relationship Type="http://schemas.openxmlformats.org/officeDocument/2006/relationships/notesSlide" Target="/ppt/notesSlides/notesSlide3.xml" Id="Rc0815242f4cf48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ef8d63e5e048ad" /><Relationship Type="http://schemas.openxmlformats.org/officeDocument/2006/relationships/notesSlide" Target="/ppt/notesSlides/notesSlide4.xml" Id="R5949f6565aa045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2e2db3e2d44598" /><Relationship Type="http://schemas.openxmlformats.org/officeDocument/2006/relationships/notesSlide" Target="/ppt/notesSlides/notesSlide5.xml" Id="R895c420a1d5d47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0667cffa04402e" /><Relationship Type="http://schemas.openxmlformats.org/officeDocument/2006/relationships/notesSlide" Target="/ppt/notesSlides/notesSlide6.xml" Id="R1acc5a8b010b46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5d957d2a234e99" /><Relationship Type="http://schemas.openxmlformats.org/officeDocument/2006/relationships/notesSlide" Target="/ppt/notesSlides/notesSlide7.xml" Id="R9923cdbcd8734e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e7511e1bae447d" /><Relationship Type="http://schemas.openxmlformats.org/officeDocument/2006/relationships/chart" Target="/ppt/slides/charts/chart1.xml" Id="Rb935e8235b944dbb" /><Relationship Type="http://schemas.openxmlformats.org/officeDocument/2006/relationships/notesSlide" Target="/ppt/notesSlides/notesSlide8.xml" Id="R607a395cbfbe4a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9a691ff1654c42" /><Relationship Type="http://schemas.openxmlformats.org/officeDocument/2006/relationships/notesSlide" Target="/ppt/notesSlides/notesSlide9.xml" Id="R321b3662d37c46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2378e37e94401f" /><Relationship Type="http://schemas.openxmlformats.org/officeDocument/2006/relationships/notesSlide" Target="/ppt/notesSlides/notesSlide10.xml" Id="R337eb082838741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e3312f495a486c" /><Relationship Type="http://schemas.openxmlformats.org/officeDocument/2006/relationships/notesSlide" Target="/ppt/notesSlides/notesSlide11.xml" Id="R104b998c7ebf4f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387cbeabf74ce4" /><Relationship Type="http://schemas.openxmlformats.org/officeDocument/2006/relationships/chart" Target="/ppt/slides/charts/chart2.xml" Id="R4086ea01e87e43b8" /><Relationship Type="http://schemas.openxmlformats.org/officeDocument/2006/relationships/notesSlide" Target="/ppt/notesSlides/notesSlide12.xml" Id="Rcb5700554ac045e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54699b1cfa4716" /><Relationship Type="http://schemas.openxmlformats.org/officeDocument/2006/relationships/notesSlide" Target="/ppt/notesSlides/notesSlide13.xml" Id="R593ff30f8b9a4d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cc83cc755a43e8" /><Relationship Type="http://schemas.openxmlformats.org/officeDocument/2006/relationships/notesSlide" Target="/ppt/notesSlides/notesSlide14.xml" Id="R17987f321967474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49ec52549b4d2b" /><Relationship Type="http://schemas.openxmlformats.org/officeDocument/2006/relationships/notesSlide" Target="/ppt/notesSlides/notesSlide15.xml" Id="R7e7cd1229ede476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Stück</c:v>
          </c:tx>
          <c:spPr>
            <a:solidFill xmlns:a="http://schemas.openxmlformats.org/drawingml/2006/main">
              <a:srgbClr val="1D6D62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Auf Lager</c:v>
                </c:pt>
                <c:pt idx="1">
                  <c:v>Bedarf in 7 Tagen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180</c:v>
                </c:pt>
                <c:pt idx="1">
                  <c:v>280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12243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8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2243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3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8D3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4B5F6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3EB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7F3EB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Kaufrate</c:v>
          </c:tx>
          <c:spPr>
            <a:solidFill xmlns:a="http://schemas.openxmlformats.org/drawingml/2006/main">
              <a:srgbClr val="1D6D62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Bisher: 25 Käufe</c:v>
                </c:pt>
                <c:pt idx="1">
                  <c:v>Neu: 29 Käufe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0.025</c:v>
                </c:pt>
                <c:pt idx="1">
                  <c:v>0.029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12243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8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2243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0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8D3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4B5F6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3EB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7F3EB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01C09-8CD0-4405-A8FE-4D5DF1BC06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c92ee557a4ad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85D9F-863F-4A1A-8D29-8D77C8EA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FFFFFF"/>
                </a:solidFill>
              </a:defRPr>
            </a:defPPr>
            <a:lvl1pPr>
              <a:defRPr sz="4500" b="1">
                <a:solidFill>
                  <a:srgbClr val="FFFFFF"/>
                </a:solidFill>
              </a:defRPr>
            </a:lvl1pPr>
            <a:lvl2pPr>
              <a:defRPr sz="4500" b="1">
                <a:solidFill>
                  <a:srgbClr val="FFFFFF"/>
                </a:solidFill>
              </a:defRPr>
            </a:lvl2pPr>
            <a:lvl3pPr>
              <a:defRPr sz="4500" b="1">
                <a:solidFill>
                  <a:srgbClr val="FFFFFF"/>
                </a:solidFill>
              </a:defRPr>
            </a:lvl3pPr>
            <a:lvl4pPr>
              <a:defRPr sz="4500" b="1">
                <a:solidFill>
                  <a:srgbClr val="FFFFFF"/>
                </a:solidFill>
              </a:defRPr>
            </a:lvl4pPr>
            <a:lvl5pPr>
              <a:defRPr sz="4500" b="1">
                <a:solidFill>
                  <a:srgbClr val="FFFFFF"/>
                </a:solidFill>
              </a:defRPr>
            </a:lvl5pPr>
            <a:lvl6pPr>
              <a:defRPr sz="4500" b="1">
                <a:solidFill>
                  <a:srgbClr val="FFFFFF"/>
                </a:solidFill>
              </a:defRPr>
            </a:lvl6pPr>
            <a:lvl7pPr>
              <a:defRPr sz="4500" b="1">
                <a:solidFill>
                  <a:srgbClr val="FFFFFF"/>
                </a:solidFill>
              </a:defRPr>
            </a:lvl7pPr>
            <a:lvl8pPr>
              <a:defRPr sz="4500" b="1">
                <a:solidFill>
                  <a:srgbClr val="FFFFFF"/>
                </a:solidFill>
              </a:defRPr>
            </a:lvl8pPr>
            <a:lvl9pPr>
              <a:defRPr sz="45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FLIGHT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BBE9E-7793-4BC9-9821-7E7ADDF5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714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FFFFFF"/>
                </a:solidFill>
              </a:defRPr>
            </a:defPPr>
            <a:lvl1pPr>
              <a:defRPr sz="3600" b="1">
                <a:solidFill>
                  <a:srgbClr val="FFFFFF"/>
                </a:solidFill>
              </a:defRPr>
            </a:lvl1pPr>
            <a:lvl2pPr>
              <a:defRPr sz="3600" b="1">
                <a:solidFill>
                  <a:srgbClr val="FFFFFF"/>
                </a:solidFill>
              </a:defRPr>
            </a:lvl2pPr>
            <a:lvl3pPr>
              <a:defRPr sz="3600" b="1">
                <a:solidFill>
                  <a:srgbClr val="FFFFFF"/>
                </a:solidFill>
              </a:defRPr>
            </a:lvl3pPr>
            <a:lvl4pPr>
              <a:defRPr sz="3600" b="1">
                <a:solidFill>
                  <a:srgbClr val="FFFFFF"/>
                </a:solidFill>
              </a:defRPr>
            </a:lvl4pPr>
            <a:lvl5pPr>
              <a:defRPr sz="3600" b="1">
                <a:solidFill>
                  <a:srgbClr val="FFFFFF"/>
                </a:solidFill>
              </a:defRPr>
            </a:lvl5pPr>
            <a:lvl6pPr>
              <a:defRPr sz="3600" b="1">
                <a:solidFill>
                  <a:srgbClr val="FFFFFF"/>
                </a:solidFill>
              </a:defRPr>
            </a:lvl6pPr>
            <a:lvl7pPr>
              <a:defRPr sz="3600" b="1">
                <a:solidFill>
                  <a:srgbClr val="FFFFFF"/>
                </a:solidFill>
              </a:defRPr>
            </a:lvl7pPr>
            <a:lvl8pPr>
              <a:defRPr sz="3600" b="1">
                <a:solidFill>
                  <a:srgbClr val="FFFFFF"/>
                </a:solidFill>
              </a:defRPr>
            </a:lvl8pPr>
            <a:lvl9pPr>
              <a:defRPr sz="36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Ein Einkauf.</a:t>
            </a:r>
          </a:p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Sechs Entscheidungen.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4C5BC-F450-4896-917C-25CE495A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D7EBE5"/>
                </a:solidFill>
              </a:defRPr>
            </a:defPPr>
            <a:lvl1pPr>
              <a:defRPr sz="1950" b="0">
                <a:solidFill>
                  <a:srgbClr val="D7EBE5"/>
                </a:solidFill>
              </a:defRPr>
            </a:lvl1pPr>
            <a:lvl2pPr>
              <a:defRPr sz="1950" b="0">
                <a:solidFill>
                  <a:srgbClr val="D7EBE5"/>
                </a:solidFill>
              </a:defRPr>
            </a:lvl2pPr>
            <a:lvl3pPr>
              <a:defRPr sz="1950" b="0">
                <a:solidFill>
                  <a:srgbClr val="D7EBE5"/>
                </a:solidFill>
              </a:defRPr>
            </a:lvl3pPr>
            <a:lvl4pPr>
              <a:defRPr sz="1950" b="0">
                <a:solidFill>
                  <a:srgbClr val="D7EBE5"/>
                </a:solidFill>
              </a:defRPr>
            </a:lvl4pPr>
            <a:lvl5pPr>
              <a:defRPr sz="1950" b="0">
                <a:solidFill>
                  <a:srgbClr val="D7EBE5"/>
                </a:solidFill>
              </a:defRPr>
            </a:lvl5pPr>
            <a:lvl6pPr>
              <a:defRPr sz="1950" b="0">
                <a:solidFill>
                  <a:srgbClr val="D7EBE5"/>
                </a:solidFill>
              </a:defRPr>
            </a:lvl6pPr>
            <a:lvl7pPr>
              <a:defRPr sz="1950" b="0">
                <a:solidFill>
                  <a:srgbClr val="D7EBE5"/>
                </a:solidFill>
              </a:defRPr>
            </a:lvl7pPr>
            <a:lvl8pPr>
              <a:defRPr sz="1950" b="0">
                <a:solidFill>
                  <a:srgbClr val="D7EBE5"/>
                </a:solidFill>
              </a:defRPr>
            </a:lvl8pPr>
            <a:lvl9pPr>
              <a:defRPr sz="1950" b="0">
                <a:solidFill>
                  <a:srgbClr val="D7EBE5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D7EBE5"/>
                </a:solidFill>
              </a:defRPr>
            </a:pPr>
            <a:r>
              <a:rPr sz="1950" b="0">
                <a:solidFill>
                  <a:srgbClr val="D7EBE5"/>
                </a:solidFill>
              </a:rPr>
              <a:t>Daten und KI</a:t>
            </a:r>
          </a:p>
          <a:p xmlns:a="http://schemas.openxmlformats.org/drawingml/2006/main">
            <a:pPr>
              <a:defRPr sz="1950" b="0">
                <a:solidFill>
                  <a:srgbClr val="D7EBE5"/>
                </a:solidFill>
              </a:defRPr>
            </a:pPr>
            <a:r>
              <a:rPr sz="1950" b="0">
                <a:solidFill>
                  <a:srgbClr val="D7EBE5"/>
                </a:solidFill>
              </a:rPr>
              <a:t>im Onlinehandel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19DB2-8DEC-40C9-802F-3E3A4F2F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2381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EBE5"/>
                </a:solidFill>
              </a:defRPr>
            </a:defPPr>
            <a:lvl1pPr>
              <a:defRPr sz="1725" b="0">
                <a:solidFill>
                  <a:srgbClr val="D7EBE5"/>
                </a:solidFill>
              </a:defRPr>
            </a:lvl1pPr>
            <a:lvl2pPr>
              <a:defRPr sz="1725" b="0">
                <a:solidFill>
                  <a:srgbClr val="D7EBE5"/>
                </a:solidFill>
              </a:defRPr>
            </a:lvl2pPr>
            <a:lvl3pPr>
              <a:defRPr sz="1725" b="0">
                <a:solidFill>
                  <a:srgbClr val="D7EBE5"/>
                </a:solidFill>
              </a:defRPr>
            </a:lvl3pPr>
            <a:lvl4pPr>
              <a:defRPr sz="1725" b="0">
                <a:solidFill>
                  <a:srgbClr val="D7EBE5"/>
                </a:solidFill>
              </a:defRPr>
            </a:lvl4pPr>
            <a:lvl5pPr>
              <a:defRPr sz="1725" b="0">
                <a:solidFill>
                  <a:srgbClr val="D7EBE5"/>
                </a:solidFill>
              </a:defRPr>
            </a:lvl5pPr>
            <a:lvl6pPr>
              <a:defRPr sz="1725" b="0">
                <a:solidFill>
                  <a:srgbClr val="D7EBE5"/>
                </a:solidFill>
              </a:defRPr>
            </a:lvl6pPr>
            <a:lvl7pPr>
              <a:defRPr sz="1725" b="0">
                <a:solidFill>
                  <a:srgbClr val="D7EBE5"/>
                </a:solidFill>
              </a:defRPr>
            </a:lvl7pPr>
            <a:lvl8pPr>
              <a:defRPr sz="1725" b="0">
                <a:solidFill>
                  <a:srgbClr val="D7EBE5"/>
                </a:solidFill>
              </a:defRPr>
            </a:lvl8pPr>
            <a:lvl9pPr>
              <a:defRPr sz="1725" b="0">
                <a:solidFill>
                  <a:srgbClr val="D7EBE5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7EBE5"/>
                </a:solidFill>
              </a:defRPr>
            </a:pPr>
            <a:r>
              <a:rPr sz="1725" b="0">
                <a:solidFill>
                  <a:srgbClr val="D7EBE5"/>
                </a:solidFill>
              </a:rPr>
              <a:t>Portfolio von</a:t>
            </a:r>
          </a:p>
          <a:p xmlns:a="http://schemas.openxmlformats.org/drawingml/2006/main">
            <a:pPr>
              <a:defRPr sz="1725" b="0">
                <a:solidFill>
                  <a:srgbClr val="D7EBE5"/>
                </a:solidFill>
              </a:defRPr>
            </a:pPr>
            <a:r>
              <a:rPr sz="1725" b="0">
                <a:solidFill>
                  <a:srgbClr val="D7EBE5"/>
                </a:solidFill>
              </a:rPr>
              <a:t>Amit Steinberg</a:t>
            </a:r>
          </a:p>
        </p:txBody>
      </p:sp>
    </p:spTree>
    <p:extLst>
      <p:ext uri="{BB962C8B-B14F-4D97-AF65-F5344CB8AC3E}">
        <p14:creationId xmlns:p14="http://schemas.microsoft.com/office/powerpoint/2010/main" val="5926625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FFA2B-B518-40B7-95AD-728BE049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Annas Wunsch und die Aufgabe des Shops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2FE52B-9212-4C64-9BCB-5648F236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B5F6E"/>
                </a:solidFill>
              </a:defRPr>
            </a:defPPr>
            <a:lvl1pPr>
              <a:defRPr sz="2250" b="0">
                <a:solidFill>
                  <a:srgbClr val="4B5F6E"/>
                </a:solidFill>
              </a:defRPr>
            </a:lvl1pPr>
            <a:lvl2pPr>
              <a:defRPr sz="2250" b="0">
                <a:solidFill>
                  <a:srgbClr val="4B5F6E"/>
                </a:solidFill>
              </a:defRPr>
            </a:lvl2pPr>
            <a:lvl3pPr>
              <a:defRPr sz="2250" b="0">
                <a:solidFill>
                  <a:srgbClr val="4B5F6E"/>
                </a:solidFill>
              </a:defRPr>
            </a:lvl3pPr>
            <a:lvl4pPr>
              <a:defRPr sz="2250" b="0">
                <a:solidFill>
                  <a:srgbClr val="4B5F6E"/>
                </a:solidFill>
              </a:defRPr>
            </a:lvl4pPr>
            <a:lvl5pPr>
              <a:defRPr sz="2250" b="0">
                <a:solidFill>
                  <a:srgbClr val="4B5F6E"/>
                </a:solidFill>
              </a:defRPr>
            </a:lvl5pPr>
            <a:lvl6pPr>
              <a:defRPr sz="2250" b="0">
                <a:solidFill>
                  <a:srgbClr val="4B5F6E"/>
                </a:solidFill>
              </a:defRPr>
            </a:lvl6pPr>
            <a:lvl7pPr>
              <a:defRPr sz="2250" b="0">
                <a:solidFill>
                  <a:srgbClr val="4B5F6E"/>
                </a:solidFill>
              </a:defRPr>
            </a:lvl7pPr>
            <a:lvl8pPr>
              <a:defRPr sz="2250" b="0">
                <a:solidFill>
                  <a:srgbClr val="4B5F6E"/>
                </a:solidFill>
              </a:defRPr>
            </a:lvl8pPr>
            <a:lvl9pPr>
              <a:defRPr sz="225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B5F6E"/>
                </a:solidFill>
              </a:defRPr>
            </a:pPr>
            <a:r>
              <a:rPr sz="2250" b="0">
                <a:solidFill>
                  <a:srgbClr val="4B5F6E"/>
                </a:solidFill>
              </a:rPr>
              <a:t>„Eine kleine schwarze Kaffeemaschine. Höchstens 150 €.“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5414C-7D17-4C82-B375-9F36F7F7FB2E}"/>
              </a:ext>
            </a:extLst>
          </p:cNvPr>
          <p:cNvGraphicFramePr/>
          <p:nvPr/>
        </p:nvGraphicFramePr>
        <p:xfrm>
          <a:off xmlns:a="http://schemas.openxmlformats.org/drawingml/2006/main" x="685800" y="2000250"/>
          <a:ext xmlns:a="http://schemas.openxmlformats.org/drawingml/2006/main" cx="10820400" cy="2571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286250"/>
                <a:gridCol w="6534150"/>
              </a:tblGrid>
              <a:tr h="642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Anna braucht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Der Shop muss entscheiden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 passendes Produkt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Welche Treffer zeigen wir?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Eine hilfreiche Auswahl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Was empfehlen wir danach?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Eine verlässliche Zusage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Passen Kosten, Bestand und Lieferauskunft?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9ACB2-932B-4210-8C13-D86C18EA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Ein verständlicher Kundenwunsch verbindet Produktauswahl und betriebliche Entscheidungen.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87250-7D47-42ED-84C7-3D8D23C3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Ein fiktiver Einkauf führt durch die gesamte Präsentation.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C0D53-0454-4E56-A6CB-673D17A9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190573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956F6-86C3-4893-B2D4-E1F39E44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Die Geschichte hat eine klare Reihenfolge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03D84-5F8F-48CA-9BBA-4B66F790BE6E}"/>
              </a:ext>
            </a:extLst>
          </p:cNvPr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108204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619500"/>
                <a:gridCol w="7200900"/>
              </a:tblGrid>
              <a:tr h="530679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243B"/>
                          </a:solidFill>
                        </a:rPr>
                        <a:t>Entscheidung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243B"/>
                          </a:solidFill>
                        </a:rPr>
                        <a:t>Die Frage dahinter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1 · Finden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Was passt zu Annas Wunsch?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2 · Empfehlen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Was könnte als Nächstes sinnvoll sein?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3 · Rechnen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Wie viel bleibt nach den Kosten übrig?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4 · Rabatt entscheiden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Verändert der Gutschein den Kauf genug?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5 · Abstimmen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Kann der Shop sein Versprechen erfüllen?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6 · Prüfen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Hat die Änderung tatsächlich geholfen?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ACF26-096B-4F0A-8E79-E2EFD0DC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Erst die Geschäftsfrage klären. Danach das passende Werkzeug wählen.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BA42A-1D84-4207-B23A-2E8EA042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76081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AFF5E-1C54-49DA-B707-6C4A1703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1 · Das passende Produkt finden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81DDC-C41E-4B85-8A75-C5D7B648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B5F6E"/>
                </a:solidFill>
              </a:defRPr>
            </a:defPPr>
            <a:lvl1pPr>
              <a:defRPr sz="2250" b="0">
                <a:solidFill>
                  <a:srgbClr val="4B5F6E"/>
                </a:solidFill>
              </a:defRPr>
            </a:lvl1pPr>
            <a:lvl2pPr>
              <a:defRPr sz="2250" b="0">
                <a:solidFill>
                  <a:srgbClr val="4B5F6E"/>
                </a:solidFill>
              </a:defRPr>
            </a:lvl2pPr>
            <a:lvl3pPr>
              <a:defRPr sz="2250" b="0">
                <a:solidFill>
                  <a:srgbClr val="4B5F6E"/>
                </a:solidFill>
              </a:defRPr>
            </a:lvl3pPr>
            <a:lvl4pPr>
              <a:defRPr sz="2250" b="0">
                <a:solidFill>
                  <a:srgbClr val="4B5F6E"/>
                </a:solidFill>
              </a:defRPr>
            </a:lvl4pPr>
            <a:lvl5pPr>
              <a:defRPr sz="2250" b="0">
                <a:solidFill>
                  <a:srgbClr val="4B5F6E"/>
                </a:solidFill>
              </a:defRPr>
            </a:lvl5pPr>
            <a:lvl6pPr>
              <a:defRPr sz="2250" b="0">
                <a:solidFill>
                  <a:srgbClr val="4B5F6E"/>
                </a:solidFill>
              </a:defRPr>
            </a:lvl6pPr>
            <a:lvl7pPr>
              <a:defRPr sz="2250" b="0">
                <a:solidFill>
                  <a:srgbClr val="4B5F6E"/>
                </a:solidFill>
              </a:defRPr>
            </a:lvl7pPr>
            <a:lvl8pPr>
              <a:defRPr sz="2250" b="0">
                <a:solidFill>
                  <a:srgbClr val="4B5F6E"/>
                </a:solidFill>
              </a:defRPr>
            </a:lvl8pPr>
            <a:lvl9pPr>
              <a:defRPr sz="225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B5F6E"/>
                </a:solidFill>
              </a:defRPr>
            </a:pPr>
            <a:r>
              <a:rPr sz="2250" b="0">
                <a:solidFill>
                  <a:srgbClr val="4B5F6E"/>
                </a:solidFill>
              </a:rPr>
              <a:t>Annas Beschreibung und ihr Budget werden gemeinsam berücksichtigt.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D4386-4B4C-429D-87F4-5D57A67AE767}"/>
              </a:ext>
            </a:extLst>
          </p:cNvPr>
          <p:cNvGraphicFramePr/>
          <p:nvPr/>
        </p:nvGraphicFramePr>
        <p:xfrm>
          <a:off xmlns:a="http://schemas.openxmlformats.org/drawingml/2006/main" x="685800" y="2000250"/>
          <a:ext xmlns:a="http://schemas.openxmlformats.org/drawingml/2006/main" cx="10820400" cy="2571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6096000"/>
                <a:gridCol w="1905000"/>
                <a:gridCol w="2819400"/>
              </a:tblGrid>
              <a:tr h="642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Produkt im Beispiel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Preis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Passt zum Budget?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Mokka Mini · klein, schwarz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89 €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Ja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Barista Pro · groß, silber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349 €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Nein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Crema Refurbished · schwarz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149 €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Ja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FEA01-7E88-4100-9F67-B0D31599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Die Suche gleicht den Wunsch mit dem Katalog ab und hält das Budget ein.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6E494-8D6F-4DB5-BBFF-9B4E102C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Die Story nutzt Wortabgleich. Eine semantische Suche ist eine optionale Vertiefung.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4338A-3B4A-434E-AD7F-7E705105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143983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5BAB5-3ADC-4796-B23F-C919F7F0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2 · Sinnvoll weiterempfehlen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62F55-AB2A-4933-A1A1-BA53F3C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B5F6E"/>
                </a:solidFill>
              </a:defRPr>
            </a:defPPr>
            <a:lvl1pPr>
              <a:defRPr sz="2250" b="0">
                <a:solidFill>
                  <a:srgbClr val="4B5F6E"/>
                </a:solidFill>
              </a:defRPr>
            </a:lvl1pPr>
            <a:lvl2pPr>
              <a:defRPr sz="2250" b="0">
                <a:solidFill>
                  <a:srgbClr val="4B5F6E"/>
                </a:solidFill>
              </a:defRPr>
            </a:lvl2pPr>
            <a:lvl3pPr>
              <a:defRPr sz="2250" b="0">
                <a:solidFill>
                  <a:srgbClr val="4B5F6E"/>
                </a:solidFill>
              </a:defRPr>
            </a:lvl3pPr>
            <a:lvl4pPr>
              <a:defRPr sz="2250" b="0">
                <a:solidFill>
                  <a:srgbClr val="4B5F6E"/>
                </a:solidFill>
              </a:defRPr>
            </a:lvl4pPr>
            <a:lvl5pPr>
              <a:defRPr sz="2250" b="0">
                <a:solidFill>
                  <a:srgbClr val="4B5F6E"/>
                </a:solidFill>
              </a:defRPr>
            </a:lvl5pPr>
            <a:lvl6pPr>
              <a:defRPr sz="2250" b="0">
                <a:solidFill>
                  <a:srgbClr val="4B5F6E"/>
                </a:solidFill>
              </a:defRPr>
            </a:lvl6pPr>
            <a:lvl7pPr>
              <a:defRPr sz="2250" b="0">
                <a:solidFill>
                  <a:srgbClr val="4B5F6E"/>
                </a:solidFill>
              </a:defRPr>
            </a:lvl7pPr>
            <a:lvl8pPr>
              <a:defRPr sz="2250" b="0">
                <a:solidFill>
                  <a:srgbClr val="4B5F6E"/>
                </a:solidFill>
              </a:defRPr>
            </a:lvl8pPr>
            <a:lvl9pPr>
              <a:defRPr sz="225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B5F6E"/>
                </a:solidFill>
              </a:defRPr>
            </a:pPr>
            <a:r>
              <a:rPr sz="2250" b="0">
                <a:solidFill>
                  <a:srgbClr val="4B5F6E"/>
                </a:solidFill>
              </a:rPr>
              <a:t>Anna hat die Mokka Mini angesehen. Welche Hilfe braucht sie jetzt?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3095C-C34A-4B75-BFB4-09E0AC8EF021}"/>
              </a:ext>
            </a:extLst>
          </p:cNvPr>
          <p:cNvGraphicFramePr/>
          <p:nvPr/>
        </p:nvGraphicFramePr>
        <p:xfrm>
          <a:off xmlns:a="http://schemas.openxmlformats.org/drawingml/2006/main" x="685800" y="2000250"/>
          <a:ext xmlns:a="http://schemas.openxmlformats.org/drawingml/2006/main" cx="10820400" cy="2571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67250"/>
                <a:gridCol w="6153150"/>
              </a:tblGrid>
              <a:tr h="642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Vorschlag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Wozu er helfen kann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Eine andere Kaffeemaschine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Alternativen vergleichen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Eine Kaffeemühle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Den Einkauf ergänzen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 allgemeiner Bestseller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Beliebte Artikel entdecken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406A8-F4C2-4A72-A8BB-899EFD6D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Empfehlungen reagieren auf beobachtete Interessen. Alternativen und Zubehör erfüllen unterschiedliche Zwecke.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81DE6-2D64-4A0C-B8F5-4E0D3527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Manuell definierte Beispiele. Trainierte Modelle werden im Labor separat geprüft.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CF9AF2-72AC-494B-AE8F-C27318D2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338614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60546-8AD9-41C5-BA77-BE719F69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3 · Was von 100 € übrig bleibt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D591D-E07B-4C15-8712-E3CF6ECC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4000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050" b="1">
                <a:solidFill>
                  <a:srgbClr val="1D6D62"/>
                </a:solidFill>
              </a:defRPr>
            </a:defPPr>
            <a:lvl1pPr>
              <a:defRPr sz="7050" b="1">
                <a:solidFill>
                  <a:srgbClr val="1D6D62"/>
                </a:solidFill>
              </a:defRPr>
            </a:lvl1pPr>
            <a:lvl2pPr>
              <a:defRPr sz="7050" b="1">
                <a:solidFill>
                  <a:srgbClr val="1D6D62"/>
                </a:solidFill>
              </a:defRPr>
            </a:lvl2pPr>
            <a:lvl3pPr>
              <a:defRPr sz="7050" b="1">
                <a:solidFill>
                  <a:srgbClr val="1D6D62"/>
                </a:solidFill>
              </a:defRPr>
            </a:lvl3pPr>
            <a:lvl4pPr>
              <a:defRPr sz="7050" b="1">
                <a:solidFill>
                  <a:srgbClr val="1D6D62"/>
                </a:solidFill>
              </a:defRPr>
            </a:lvl4pPr>
            <a:lvl5pPr>
              <a:defRPr sz="7050" b="1">
                <a:solidFill>
                  <a:srgbClr val="1D6D62"/>
                </a:solidFill>
              </a:defRPr>
            </a:lvl5pPr>
            <a:lvl6pPr>
              <a:defRPr sz="7050" b="1">
                <a:solidFill>
                  <a:srgbClr val="1D6D62"/>
                </a:solidFill>
              </a:defRPr>
            </a:lvl6pPr>
            <a:lvl7pPr>
              <a:defRPr sz="7050" b="1">
                <a:solidFill>
                  <a:srgbClr val="1D6D62"/>
                </a:solidFill>
              </a:defRPr>
            </a:lvl7pPr>
            <a:lvl8pPr>
              <a:defRPr sz="7050" b="1">
                <a:solidFill>
                  <a:srgbClr val="1D6D62"/>
                </a:solidFill>
              </a:defRPr>
            </a:lvl8pPr>
            <a:lvl9pPr>
              <a:defRPr sz="7050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7050" b="1">
                <a:solidFill>
                  <a:srgbClr val="1D6D62"/>
                </a:solidFill>
              </a:defRPr>
            </a:pPr>
            <a:r>
              <a:rPr sz="7050" b="1">
                <a:solidFill>
                  <a:srgbClr val="1D6D62"/>
                </a:solidFill>
              </a:rPr>
              <a:t>24 €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808F8-94BC-4C92-85ED-1A5824A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43B"/>
                </a:solidFill>
              </a:defRPr>
            </a:defPPr>
            <a:lvl1pPr>
              <a:defRPr sz="2175" b="0">
                <a:solidFill>
                  <a:srgbClr val="12243B"/>
                </a:solidFill>
              </a:defRPr>
            </a:lvl1pPr>
            <a:lvl2pPr>
              <a:defRPr sz="2175" b="0">
                <a:solidFill>
                  <a:srgbClr val="12243B"/>
                </a:solidFill>
              </a:defRPr>
            </a:lvl2pPr>
            <a:lvl3pPr>
              <a:defRPr sz="2175" b="0">
                <a:solidFill>
                  <a:srgbClr val="12243B"/>
                </a:solidFill>
              </a:defRPr>
            </a:lvl3pPr>
            <a:lvl4pPr>
              <a:defRPr sz="2175" b="0">
                <a:solidFill>
                  <a:srgbClr val="12243B"/>
                </a:solidFill>
              </a:defRPr>
            </a:lvl4pPr>
            <a:lvl5pPr>
              <a:defRPr sz="2175" b="0">
                <a:solidFill>
                  <a:srgbClr val="12243B"/>
                </a:solidFill>
              </a:defRPr>
            </a:lvl5pPr>
            <a:lvl6pPr>
              <a:defRPr sz="2175" b="0">
                <a:solidFill>
                  <a:srgbClr val="12243B"/>
                </a:solidFill>
              </a:defRPr>
            </a:lvl6pPr>
            <a:lvl7pPr>
              <a:defRPr sz="2175" b="0">
                <a:solidFill>
                  <a:srgbClr val="12243B"/>
                </a:solidFill>
              </a:defRPr>
            </a:lvl7pPr>
            <a:lvl8pPr>
              <a:defRPr sz="2175" b="0">
                <a:solidFill>
                  <a:srgbClr val="12243B"/>
                </a:solidFill>
              </a:defRPr>
            </a:lvl8pPr>
            <a:lvl9pPr>
              <a:defRPr sz="2175" b="0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43B"/>
                </a:solidFill>
              </a:defRPr>
            </a:pPr>
            <a:r>
              <a:rPr sz="2175" b="0">
                <a:solidFill>
                  <a:srgbClr val="12243B"/>
                </a:solidFill>
              </a:rPr>
              <a:t>bleiben je Beispielbestellung</a:t>
            </a:r>
          </a:p>
          <a:p xmlns:a="http://schemas.openxmlformats.org/drawingml/2006/main">
            <a:pPr>
              <a:defRPr sz="2175" b="0">
                <a:solidFill>
                  <a:srgbClr val="12243B"/>
                </a:solidFill>
              </a:defRPr>
            </a:pPr>
            <a:r>
              <a:rPr sz="2175" b="0">
                <a:solidFill>
                  <a:srgbClr val="12243B"/>
                </a:solidFill>
              </a:rPr>
              <a:t>nach den aufgeführten Kosten.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BBF019-F400-4D7A-9784-6F03C854F244}"/>
              </a:ext>
            </a:extLst>
          </p:cNvPr>
          <p:cNvGraphicFramePr/>
          <p:nvPr/>
        </p:nvGraphicFramePr>
        <p:xfrm>
          <a:off xmlns:a="http://schemas.openxmlformats.org/drawingml/2006/main" x="5238750" y="1381125"/>
          <a:ext xmlns:a="http://schemas.openxmlformats.org/drawingml/2006/main" cx="626745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1790700"/>
              </a:tblGrid>
              <a:tr h="5556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Rechenschritt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Betrag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Umsatz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100 €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Ware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−50 €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Versand und Zahlung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−6 €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Erwartete Retourenkosten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−8 €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Werbung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−12 €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7DE92-EF6D-4534-8EB2-4F29C716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24 € bleiben für weitere Kosten. Ein Rabatt von 10 € reduziert diesen Betrag auf 14 €.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FF4750-76A9-4CE7-95E7-1AF1C15F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Separate 100-€-Beispielbestellung, netto ohne Umsatzsteuer. Fixkosten fehlen.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332E61-F3D6-43FA-8595-A3B0D3FB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90783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CF648-392F-4211-83DA-D168505B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4 · Wann sich ein Gutschein lohnt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71599-353C-4F85-BB21-1947EF32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B5F6E"/>
                </a:solidFill>
              </a:defRPr>
            </a:defPPr>
            <a:lvl1pPr>
              <a:defRPr sz="2250" b="0">
                <a:solidFill>
                  <a:srgbClr val="4B5F6E"/>
                </a:solidFill>
              </a:defRPr>
            </a:lvl1pPr>
            <a:lvl2pPr>
              <a:defRPr sz="2250" b="0">
                <a:solidFill>
                  <a:srgbClr val="4B5F6E"/>
                </a:solidFill>
              </a:defRPr>
            </a:lvl2pPr>
            <a:lvl3pPr>
              <a:defRPr sz="2250" b="0">
                <a:solidFill>
                  <a:srgbClr val="4B5F6E"/>
                </a:solidFill>
              </a:defRPr>
            </a:lvl3pPr>
            <a:lvl4pPr>
              <a:defRPr sz="2250" b="0">
                <a:solidFill>
                  <a:srgbClr val="4B5F6E"/>
                </a:solidFill>
              </a:defRPr>
            </a:lvl4pPr>
            <a:lvl5pPr>
              <a:defRPr sz="2250" b="0">
                <a:solidFill>
                  <a:srgbClr val="4B5F6E"/>
                </a:solidFill>
              </a:defRPr>
            </a:lvl5pPr>
            <a:lvl6pPr>
              <a:defRPr sz="2250" b="0">
                <a:solidFill>
                  <a:srgbClr val="4B5F6E"/>
                </a:solidFill>
              </a:defRPr>
            </a:lvl6pPr>
            <a:lvl7pPr>
              <a:defRPr sz="2250" b="0">
                <a:solidFill>
                  <a:srgbClr val="4B5F6E"/>
                </a:solidFill>
              </a:defRPr>
            </a:lvl7pPr>
            <a:lvl8pPr>
              <a:defRPr sz="2250" b="0">
                <a:solidFill>
                  <a:srgbClr val="4B5F6E"/>
                </a:solidFill>
              </a:defRPr>
            </a:lvl8pPr>
            <a:lvl9pPr>
              <a:defRPr sz="225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B5F6E"/>
                </a:solidFill>
              </a:defRPr>
            </a:pPr>
            <a:r>
              <a:rPr sz="2250" b="0">
                <a:solidFill>
                  <a:srgbClr val="4B5F6E"/>
                </a:solidFill>
              </a:rPr>
              <a:t>Eine hohe Kaufchance allein rechtfertigt keinen Rabatt.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28299-72BD-4164-844E-DF580184FC2B}"/>
              </a:ext>
            </a:extLst>
          </p:cNvPr>
          <p:cNvGraphicFramePr/>
          <p:nvPr/>
        </p:nvGraphicFramePr>
        <p:xfrm>
          <a:off xmlns:a="http://schemas.openxmlformats.org/drawingml/2006/main" x="685800" y="2190750"/>
          <a:ext xmlns:a="http://schemas.openxmlformats.org/drawingml/2006/main" cx="10820400" cy="2286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810000"/>
                <a:gridCol w="2143125"/>
                <a:gridCol w="2143125"/>
                <a:gridCol w="2724150"/>
              </a:tblGrid>
              <a:tr h="7620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2243B"/>
                          </a:solidFill>
                        </a:rPr>
                        <a:t>Erfundener Fall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2243B"/>
                          </a:solidFill>
                        </a:rPr>
                        <a:t>Ohne Gutschein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2243B"/>
                          </a:solidFill>
                        </a:rPr>
                        <a:t>Mit Gutschein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2243B"/>
                          </a:solidFill>
                        </a:rPr>
                        <a:t>Zusatzbeitrag je Kontakt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A · kauft oft ohnehin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60 %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62 %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−5,60 €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B · reagiert stärker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10 %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25 %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43B"/>
                          </a:solidFill>
                        </a:rPr>
                        <a:t>+3,30 €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0EADE-6359-4B95-BDA2-13C2C2A8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Der zusätzliche Beitrag berücksichtigt auch Gutscheine für ohnehin stattfindende Käufe.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7CED6-3EB8-4BAA-AB28-6C40287A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Annahme: 40 € Beitrag je Kauf, 10 € Gutschein, 0,20 € Kontaktkosten.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84C5E-767D-4B25-9308-E6F7B590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821716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BA312A-0F9C-484F-B413-75A1095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5 · Der Bestand begrenzt das Versprechen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725C0-11B3-4680-8536-E0E3EB1F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B5F6E"/>
                </a:solidFill>
              </a:defRPr>
            </a:defPPr>
            <a:lvl1pPr>
              <a:defRPr sz="2250" b="0">
                <a:solidFill>
                  <a:srgbClr val="4B5F6E"/>
                </a:solidFill>
              </a:defRPr>
            </a:lvl1pPr>
            <a:lvl2pPr>
              <a:defRPr sz="2250" b="0">
                <a:solidFill>
                  <a:srgbClr val="4B5F6E"/>
                </a:solidFill>
              </a:defRPr>
            </a:lvl2pPr>
            <a:lvl3pPr>
              <a:defRPr sz="2250" b="0">
                <a:solidFill>
                  <a:srgbClr val="4B5F6E"/>
                </a:solidFill>
              </a:defRPr>
            </a:lvl3pPr>
            <a:lvl4pPr>
              <a:defRPr sz="2250" b="0">
                <a:solidFill>
                  <a:srgbClr val="4B5F6E"/>
                </a:solidFill>
              </a:defRPr>
            </a:lvl4pPr>
            <a:lvl5pPr>
              <a:defRPr sz="2250" b="0">
                <a:solidFill>
                  <a:srgbClr val="4B5F6E"/>
                </a:solidFill>
              </a:defRPr>
            </a:lvl5pPr>
            <a:lvl6pPr>
              <a:defRPr sz="2250" b="0">
                <a:solidFill>
                  <a:srgbClr val="4B5F6E"/>
                </a:solidFill>
              </a:defRPr>
            </a:lvl6pPr>
            <a:lvl7pPr>
              <a:defRPr sz="2250" b="0">
                <a:solidFill>
                  <a:srgbClr val="4B5F6E"/>
                </a:solidFill>
              </a:defRPr>
            </a:lvl7pPr>
            <a:lvl8pPr>
              <a:defRPr sz="2250" b="0">
                <a:solidFill>
                  <a:srgbClr val="4B5F6E"/>
                </a:solidFill>
              </a:defRPr>
            </a:lvl8pPr>
            <a:lvl9pPr>
              <a:defRPr sz="225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B5F6E"/>
                </a:solidFill>
              </a:defRPr>
            </a:pPr>
            <a:r>
              <a:rPr sz="2250" b="0">
                <a:solidFill>
                  <a:srgbClr val="4B5F6E"/>
                </a:solidFill>
              </a:rPr>
              <a:t>Anna fragt nach der Lieferung. Der Einkauf prüft zuerst die verfügbare Ware.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B9ABF341-2895-4E2E-9EA6-40758ECD12C0}"/>
              </a:ext>
            </a:extLst>
          </p:cNvPr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619125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35e8235b944db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018B6B-4FC4-4A6A-93B8-B52804D2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43125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B04436"/>
                </a:solidFill>
              </a:defRPr>
            </a:defPPr>
            <a:lvl1pPr>
              <a:defRPr sz="4350" b="1">
                <a:solidFill>
                  <a:srgbClr val="B04436"/>
                </a:solidFill>
              </a:defRPr>
            </a:lvl1pPr>
            <a:lvl2pPr>
              <a:defRPr sz="4350" b="1">
                <a:solidFill>
                  <a:srgbClr val="B04436"/>
                </a:solidFill>
              </a:defRPr>
            </a:lvl2pPr>
            <a:lvl3pPr>
              <a:defRPr sz="4350" b="1">
                <a:solidFill>
                  <a:srgbClr val="B04436"/>
                </a:solidFill>
              </a:defRPr>
            </a:lvl3pPr>
            <a:lvl4pPr>
              <a:defRPr sz="4350" b="1">
                <a:solidFill>
                  <a:srgbClr val="B04436"/>
                </a:solidFill>
              </a:defRPr>
            </a:lvl4pPr>
            <a:lvl5pPr>
              <a:defRPr sz="4350" b="1">
                <a:solidFill>
                  <a:srgbClr val="B04436"/>
                </a:solidFill>
              </a:defRPr>
            </a:lvl5pPr>
            <a:lvl6pPr>
              <a:defRPr sz="4350" b="1">
                <a:solidFill>
                  <a:srgbClr val="B04436"/>
                </a:solidFill>
              </a:defRPr>
            </a:lvl6pPr>
            <a:lvl7pPr>
              <a:defRPr sz="4350" b="1">
                <a:solidFill>
                  <a:srgbClr val="B04436"/>
                </a:solidFill>
              </a:defRPr>
            </a:lvl7pPr>
            <a:lvl8pPr>
              <a:defRPr sz="4350" b="1">
                <a:solidFill>
                  <a:srgbClr val="B04436"/>
                </a:solidFill>
              </a:defRPr>
            </a:lvl8pPr>
            <a:lvl9pPr>
              <a:defRPr sz="4350" b="1">
                <a:solidFill>
                  <a:srgbClr val="B04436"/>
                </a:solidFill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B04436"/>
                </a:solidFill>
              </a:defRPr>
            </a:pPr>
            <a:r>
              <a:rPr sz="4350" b="1">
                <a:solidFill>
                  <a:srgbClr val="B04436"/>
                </a:solidFill>
              </a:rPr>
              <a:t>100 Stück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501B0-8A02-4A09-B3FD-24B3E8ED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24200"/>
            <a:ext cx="3810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43B"/>
                </a:solidFill>
              </a:defRPr>
            </a:defPPr>
            <a:lvl1pPr>
              <a:defRPr sz="2250" b="0">
                <a:solidFill>
                  <a:srgbClr val="12243B"/>
                </a:solidFill>
              </a:defRPr>
            </a:lvl1pPr>
            <a:lvl2pPr>
              <a:defRPr sz="2250" b="0">
                <a:solidFill>
                  <a:srgbClr val="12243B"/>
                </a:solidFill>
              </a:defRPr>
            </a:lvl2pPr>
            <a:lvl3pPr>
              <a:defRPr sz="2250" b="0">
                <a:solidFill>
                  <a:srgbClr val="12243B"/>
                </a:solidFill>
              </a:defRPr>
            </a:lvl3pPr>
            <a:lvl4pPr>
              <a:defRPr sz="2250" b="0">
                <a:solidFill>
                  <a:srgbClr val="12243B"/>
                </a:solidFill>
              </a:defRPr>
            </a:lvl4pPr>
            <a:lvl5pPr>
              <a:defRPr sz="2250" b="0">
                <a:solidFill>
                  <a:srgbClr val="12243B"/>
                </a:solidFill>
              </a:defRPr>
            </a:lvl5pPr>
            <a:lvl6pPr>
              <a:defRPr sz="2250" b="0">
                <a:solidFill>
                  <a:srgbClr val="12243B"/>
                </a:solidFill>
              </a:defRPr>
            </a:lvl6pPr>
            <a:lvl7pPr>
              <a:defRPr sz="2250" b="0">
                <a:solidFill>
                  <a:srgbClr val="12243B"/>
                </a:solidFill>
              </a:defRPr>
            </a:lvl7pPr>
            <a:lvl8pPr>
              <a:defRPr sz="2250" b="0">
                <a:solidFill>
                  <a:srgbClr val="12243B"/>
                </a:solidFill>
              </a:defRPr>
            </a:lvl8pPr>
            <a:lvl9pPr>
              <a:defRPr sz="2250" b="0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43B"/>
                </a:solidFill>
              </a:defRPr>
            </a:pPr>
            <a:r>
              <a:rPr sz="2250" b="0">
                <a:solidFill>
                  <a:srgbClr val="12243B"/>
                </a:solidFill>
              </a:rPr>
              <a:t>fehlen rechnerisch</a:t>
            </a:r>
          </a:p>
          <a:p xmlns:a="http://schemas.openxmlformats.org/drawingml/2006/main">
            <a:pPr>
              <a:defRPr sz="2250" b="0">
                <a:solidFill>
                  <a:srgbClr val="12243B"/>
                </a:solidFill>
              </a:defRPr>
            </a:pPr>
            <a:r>
              <a:rPr sz="2250" b="0">
                <a:solidFill>
                  <a:srgbClr val="12243B"/>
                </a:solidFill>
              </a:rPr>
              <a:t>für den angenommenen Bedarf.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4EFE1-CD05-49AC-963D-3E4560E4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Beim angenommenen Bedarf fehlen 100 Stück für die sieben Tage. Der konkrete Liefertermin bleibt ungeklärt.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5CA73F-E12A-433E-8AF7-C361D62A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Annahme: 40 Stück Tagesbedarf und sieben Tage Lieferzeit. Keine reale Bestandsprognose.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A11055-53BC-4D03-881C-BEDD2A94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326476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16EEE-DB94-4814-855A-B4E0A668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Welche Aufgabe welches Werkzeug übernimmt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F626C7-C70E-406A-93C8-7778472A7A1B}"/>
              </a:ext>
            </a:extLst>
          </p:cNvPr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10820400" cy="3238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143250"/>
                <a:gridCol w="3619500"/>
                <a:gridCol w="405765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Aufgabe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Passendes Werkzeug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Beispielausgabe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Artikel vorschlagen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Empfehlungsverfahren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Eine passende Mühle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Kosten und Bestand rechnen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Definierte Rechenfunktion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24 € Beitrag; 100 Stück Lücke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Eine Auskunft formulieren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Sprachmodell mit Fakten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 Antwortentwurf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Schritte verbinden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 festgelegter Ablauf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 prüfbares Protokoll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29853-FEB8-467E-A06D-9D2F7DFE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Ein Sprachmodell kann erklären und formulieren. Zahlen und bestätigte Fakten kommen aus den zuständigen Werkzeugen.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F42CF-B7CD-45E0-9DBB-04FBAFED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Flight nutzt lokal einen festen Ablauf. Die optionale API formuliert Texte.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64C0DE-DDEB-4B7B-8677-FCB9403D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215691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A4A6A-A62F-44FB-B4E6-0BAA3AB6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Ein gemeinsamer Auftrag für das Team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365DD-7D16-47A8-BB5C-F5670A1882B2}"/>
              </a:ext>
            </a:extLst>
          </p:cNvPr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10820400" cy="2571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333750"/>
                <a:gridCol w="7486650"/>
              </a:tblGrid>
              <a:tr h="642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Rolle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Beitrag zur Entscheidung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Finanzen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Prüft den Beitrag der Beispielbestellung.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Einkauf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Prüft Bestand und Lieferfähigkeit.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Kundenservice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Verwendet die bestätigten Informationen für eine Antwort.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22B33-62AC-4E14-8550-72F6B21D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Das Team erhält einen nachvollziehbaren Vorschlag. Es bestätigt Lieferfähigkeit und weitere Aktionen.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BA026E-C00F-4F3A-837B-356F40F4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Copilot: unterstützt Menschen. Agent: kann Schritte und Werkzeuge wählen. Flight demonstriert aktuell einen festen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E7B4E-BFAF-4521-AC4D-B65394F0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362948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9547F-5620-490D-B50C-6C11CA46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Wo ChatGPT und Claude helfen können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E5B78-6F80-4D20-9BD4-BF88FB73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B5F6E"/>
                </a:solidFill>
              </a:defRPr>
            </a:defPPr>
            <a:lvl1pPr>
              <a:defRPr sz="2250" b="0">
                <a:solidFill>
                  <a:srgbClr val="4B5F6E"/>
                </a:solidFill>
              </a:defRPr>
            </a:lvl1pPr>
            <a:lvl2pPr>
              <a:defRPr sz="2250" b="0">
                <a:solidFill>
                  <a:srgbClr val="4B5F6E"/>
                </a:solidFill>
              </a:defRPr>
            </a:lvl2pPr>
            <a:lvl3pPr>
              <a:defRPr sz="2250" b="0">
                <a:solidFill>
                  <a:srgbClr val="4B5F6E"/>
                </a:solidFill>
              </a:defRPr>
            </a:lvl3pPr>
            <a:lvl4pPr>
              <a:defRPr sz="2250" b="0">
                <a:solidFill>
                  <a:srgbClr val="4B5F6E"/>
                </a:solidFill>
              </a:defRPr>
            </a:lvl4pPr>
            <a:lvl5pPr>
              <a:defRPr sz="2250" b="0">
                <a:solidFill>
                  <a:srgbClr val="4B5F6E"/>
                </a:solidFill>
              </a:defRPr>
            </a:lvl5pPr>
            <a:lvl6pPr>
              <a:defRPr sz="2250" b="0">
                <a:solidFill>
                  <a:srgbClr val="4B5F6E"/>
                </a:solidFill>
              </a:defRPr>
            </a:lvl6pPr>
            <a:lvl7pPr>
              <a:defRPr sz="2250" b="0">
                <a:solidFill>
                  <a:srgbClr val="4B5F6E"/>
                </a:solidFill>
              </a:defRPr>
            </a:lvl7pPr>
            <a:lvl8pPr>
              <a:defRPr sz="2250" b="0">
                <a:solidFill>
                  <a:srgbClr val="4B5F6E"/>
                </a:solidFill>
              </a:defRPr>
            </a:lvl8pPr>
            <a:lvl9pPr>
              <a:defRPr sz="225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B5F6E"/>
                </a:solidFill>
              </a:defRPr>
            </a:pPr>
            <a:r>
              <a:rPr sz="2250" b="0">
                <a:solidFill>
                  <a:srgbClr val="4B5F6E"/>
                </a:solidFill>
              </a:rPr>
              <a:t>Aus geprüften Fakten wird eine verständliche Antwort.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57474-7679-4EAC-B0A5-225C201B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10096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D6D62"/>
                </a:solidFill>
              </a:defRPr>
            </a:defPPr>
            <a:lvl1pPr>
              <a:defRPr sz="3000" b="1">
                <a:solidFill>
                  <a:srgbClr val="1D6D62"/>
                </a:solidFill>
              </a:defRPr>
            </a:lvl1pPr>
            <a:lvl2pPr>
              <a:defRPr sz="3000" b="1">
                <a:solidFill>
                  <a:srgbClr val="1D6D62"/>
                </a:solidFill>
              </a:defRPr>
            </a:lvl2pPr>
            <a:lvl3pPr>
              <a:defRPr sz="3000" b="1">
                <a:solidFill>
                  <a:srgbClr val="1D6D62"/>
                </a:solidFill>
              </a:defRPr>
            </a:lvl3pPr>
            <a:lvl4pPr>
              <a:defRPr sz="3000" b="1">
                <a:solidFill>
                  <a:srgbClr val="1D6D62"/>
                </a:solidFill>
              </a:defRPr>
            </a:lvl4pPr>
            <a:lvl5pPr>
              <a:defRPr sz="3000" b="1">
                <a:solidFill>
                  <a:srgbClr val="1D6D62"/>
                </a:solidFill>
              </a:defRPr>
            </a:lvl5pPr>
            <a:lvl6pPr>
              <a:defRPr sz="3000" b="1">
                <a:solidFill>
                  <a:srgbClr val="1D6D62"/>
                </a:solidFill>
              </a:defRPr>
            </a:lvl6pPr>
            <a:lvl7pPr>
              <a:defRPr sz="3000" b="1">
                <a:solidFill>
                  <a:srgbClr val="1D6D62"/>
                </a:solidFill>
              </a:defRPr>
            </a:lvl7pPr>
            <a:lvl8pPr>
              <a:defRPr sz="3000" b="1">
                <a:solidFill>
                  <a:srgbClr val="1D6D62"/>
                </a:solidFill>
              </a:defRPr>
            </a:lvl8pPr>
            <a:lvl9pPr>
              <a:defRPr sz="3000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D6D62"/>
                </a:solidFill>
              </a:defRPr>
            </a:pPr>
            <a:r>
              <a:rPr sz="3000" b="1">
                <a:solidFill>
                  <a:srgbClr val="1D6D62"/>
                </a:solidFill>
              </a:rPr>
              <a:t>„Die Maschine passt zu deinen Angaben. Den konkreten Liefertermin prüfen wir noch und bestätigen ihn dir anschließend.“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780B7-7F22-4441-8A1E-6DC75EF7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Das Sprachmodell formuliert einen Entwurf. Der bestätigte Liefertermin muss aus einem zuständigen System kommen.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557EC-7CDC-4BD5-9EC4-2D3DD970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Vorlagenbeispiel, kein Live-Modellaufruf. Optionale OpenAI-/Anthropic-API-Anbindungen benötigen eigene Schlüssel.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E9FBD-258E-43E5-8F5D-A1646691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622566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ED9EF3-2C6F-4D82-BA21-B402B0CC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6 · Eine Verbesserung braucht eine Gegenprobe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29A93-82DE-4323-9E68-3F52FE1A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7157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B5F6E"/>
                </a:solidFill>
              </a:defRPr>
            </a:defPPr>
            <a:lvl1pPr>
              <a:defRPr sz="2250" b="0">
                <a:solidFill>
                  <a:srgbClr val="4B5F6E"/>
                </a:solidFill>
              </a:defRPr>
            </a:lvl1pPr>
            <a:lvl2pPr>
              <a:defRPr sz="2250" b="0">
                <a:solidFill>
                  <a:srgbClr val="4B5F6E"/>
                </a:solidFill>
              </a:defRPr>
            </a:lvl2pPr>
            <a:lvl3pPr>
              <a:defRPr sz="2250" b="0">
                <a:solidFill>
                  <a:srgbClr val="4B5F6E"/>
                </a:solidFill>
              </a:defRPr>
            </a:lvl3pPr>
            <a:lvl4pPr>
              <a:defRPr sz="2250" b="0">
                <a:solidFill>
                  <a:srgbClr val="4B5F6E"/>
                </a:solidFill>
              </a:defRPr>
            </a:lvl4pPr>
            <a:lvl5pPr>
              <a:defRPr sz="2250" b="0">
                <a:solidFill>
                  <a:srgbClr val="4B5F6E"/>
                </a:solidFill>
              </a:defRPr>
            </a:lvl5pPr>
            <a:lvl6pPr>
              <a:defRPr sz="2250" b="0">
                <a:solidFill>
                  <a:srgbClr val="4B5F6E"/>
                </a:solidFill>
              </a:defRPr>
            </a:lvl6pPr>
            <a:lvl7pPr>
              <a:defRPr sz="2250" b="0">
                <a:solidFill>
                  <a:srgbClr val="4B5F6E"/>
                </a:solidFill>
              </a:defRPr>
            </a:lvl7pPr>
            <a:lvl8pPr>
              <a:defRPr sz="2250" b="0">
                <a:solidFill>
                  <a:srgbClr val="4B5F6E"/>
                </a:solidFill>
              </a:defRPr>
            </a:lvl8pPr>
            <a:lvl9pPr>
              <a:defRPr sz="225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B5F6E"/>
                </a:solidFill>
              </a:defRPr>
            </a:pPr>
            <a:r>
              <a:rPr sz="2250" b="0">
                <a:solidFill>
                  <a:srgbClr val="4B5F6E"/>
                </a:solidFill>
              </a:rPr>
              <a:t>Gleich große Gruppen: je 1.000 Personen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DE3F87D3-AE32-4B90-94A5-A1F7918F0EC4}"/>
              </a:ext>
            </a:extLst>
          </p:cNvPr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619125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86ea01e87e43b8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33635-CC24-4083-92A9-64BC835C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00250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1">
                <a:solidFill>
                  <a:srgbClr val="1D6D62"/>
                </a:solidFill>
              </a:defRPr>
            </a:defPPr>
            <a:lvl1pPr>
              <a:defRPr sz="5250" b="1">
                <a:solidFill>
                  <a:srgbClr val="1D6D62"/>
                </a:solidFill>
              </a:defRPr>
            </a:lvl1pPr>
            <a:lvl2pPr>
              <a:defRPr sz="5250" b="1">
                <a:solidFill>
                  <a:srgbClr val="1D6D62"/>
                </a:solidFill>
              </a:defRPr>
            </a:lvl2pPr>
            <a:lvl3pPr>
              <a:defRPr sz="5250" b="1">
                <a:solidFill>
                  <a:srgbClr val="1D6D62"/>
                </a:solidFill>
              </a:defRPr>
            </a:lvl3pPr>
            <a:lvl4pPr>
              <a:defRPr sz="5250" b="1">
                <a:solidFill>
                  <a:srgbClr val="1D6D62"/>
                </a:solidFill>
              </a:defRPr>
            </a:lvl4pPr>
            <a:lvl5pPr>
              <a:defRPr sz="5250" b="1">
                <a:solidFill>
                  <a:srgbClr val="1D6D62"/>
                </a:solidFill>
              </a:defRPr>
            </a:lvl5pPr>
            <a:lvl6pPr>
              <a:defRPr sz="5250" b="1">
                <a:solidFill>
                  <a:srgbClr val="1D6D62"/>
                </a:solidFill>
              </a:defRPr>
            </a:lvl6pPr>
            <a:lvl7pPr>
              <a:defRPr sz="5250" b="1">
                <a:solidFill>
                  <a:srgbClr val="1D6D62"/>
                </a:solidFill>
              </a:defRPr>
            </a:lvl7pPr>
            <a:lvl8pPr>
              <a:defRPr sz="5250" b="1">
                <a:solidFill>
                  <a:srgbClr val="1D6D62"/>
                </a:solidFill>
              </a:defRPr>
            </a:lvl8pPr>
            <a:lvl9pPr>
              <a:defRPr sz="5250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5250" b="1">
                <a:solidFill>
                  <a:srgbClr val="1D6D62"/>
                </a:solidFill>
              </a:defRPr>
            </a:pPr>
            <a:r>
              <a:rPr sz="5250" b="1">
                <a:solidFill>
                  <a:srgbClr val="1D6D62"/>
                </a:solidFill>
              </a:rPr>
              <a:t>+0,4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C6F09-87E1-425D-8976-96F684A3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43B"/>
                </a:solidFill>
              </a:defRPr>
            </a:defPPr>
            <a:lvl1pPr>
              <a:defRPr sz="2175" b="0">
                <a:solidFill>
                  <a:srgbClr val="12243B"/>
                </a:solidFill>
              </a:defRPr>
            </a:lvl1pPr>
            <a:lvl2pPr>
              <a:defRPr sz="2175" b="0">
                <a:solidFill>
                  <a:srgbClr val="12243B"/>
                </a:solidFill>
              </a:defRPr>
            </a:lvl2pPr>
            <a:lvl3pPr>
              <a:defRPr sz="2175" b="0">
                <a:solidFill>
                  <a:srgbClr val="12243B"/>
                </a:solidFill>
              </a:defRPr>
            </a:lvl3pPr>
            <a:lvl4pPr>
              <a:defRPr sz="2175" b="0">
                <a:solidFill>
                  <a:srgbClr val="12243B"/>
                </a:solidFill>
              </a:defRPr>
            </a:lvl4pPr>
            <a:lvl5pPr>
              <a:defRPr sz="2175" b="0">
                <a:solidFill>
                  <a:srgbClr val="12243B"/>
                </a:solidFill>
              </a:defRPr>
            </a:lvl5pPr>
            <a:lvl6pPr>
              <a:defRPr sz="2175" b="0">
                <a:solidFill>
                  <a:srgbClr val="12243B"/>
                </a:solidFill>
              </a:defRPr>
            </a:lvl6pPr>
            <a:lvl7pPr>
              <a:defRPr sz="2175" b="0">
                <a:solidFill>
                  <a:srgbClr val="12243B"/>
                </a:solidFill>
              </a:defRPr>
            </a:lvl7pPr>
            <a:lvl8pPr>
              <a:defRPr sz="2175" b="0">
                <a:solidFill>
                  <a:srgbClr val="12243B"/>
                </a:solidFill>
              </a:defRPr>
            </a:lvl8pPr>
            <a:lvl9pPr>
              <a:defRPr sz="2175" b="0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43B"/>
                </a:solidFill>
              </a:defRPr>
            </a:pPr>
            <a:r>
              <a:rPr sz="2175" b="0">
                <a:solidFill>
                  <a:srgbClr val="12243B"/>
                </a:solidFill>
              </a:rPr>
              <a:t>Prozentpunkte Unterschied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1C554-EAF8-460C-8FF0-57DED422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B04436"/>
                </a:solidFill>
              </a:defRPr>
            </a:defPPr>
            <a:lvl1pPr>
              <a:defRPr sz="2175" b="0">
                <a:solidFill>
                  <a:srgbClr val="B04436"/>
                </a:solidFill>
              </a:defRPr>
            </a:lvl1pPr>
            <a:lvl2pPr>
              <a:defRPr sz="2175" b="0">
                <a:solidFill>
                  <a:srgbClr val="B04436"/>
                </a:solidFill>
              </a:defRPr>
            </a:lvl2pPr>
            <a:lvl3pPr>
              <a:defRPr sz="2175" b="0">
                <a:solidFill>
                  <a:srgbClr val="B04436"/>
                </a:solidFill>
              </a:defRPr>
            </a:lvl3pPr>
            <a:lvl4pPr>
              <a:defRPr sz="2175" b="0">
                <a:solidFill>
                  <a:srgbClr val="B04436"/>
                </a:solidFill>
              </a:defRPr>
            </a:lvl4pPr>
            <a:lvl5pPr>
              <a:defRPr sz="2175" b="0">
                <a:solidFill>
                  <a:srgbClr val="B04436"/>
                </a:solidFill>
              </a:defRPr>
            </a:lvl5pPr>
            <a:lvl6pPr>
              <a:defRPr sz="2175" b="0">
                <a:solidFill>
                  <a:srgbClr val="B04436"/>
                </a:solidFill>
              </a:defRPr>
            </a:lvl6pPr>
            <a:lvl7pPr>
              <a:defRPr sz="2175" b="0">
                <a:solidFill>
                  <a:srgbClr val="B04436"/>
                </a:solidFill>
              </a:defRPr>
            </a:lvl7pPr>
            <a:lvl8pPr>
              <a:defRPr sz="2175" b="0">
                <a:solidFill>
                  <a:srgbClr val="B04436"/>
                </a:solidFill>
              </a:defRPr>
            </a:lvl8pPr>
            <a:lvl9pPr>
              <a:defRPr sz="2175" b="0">
                <a:solidFill>
                  <a:srgbClr val="B044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B04436"/>
                </a:solidFill>
              </a:defRPr>
            </a:pPr>
            <a:r>
              <a:rPr sz="2175" b="0">
                <a:solidFill>
                  <a:srgbClr val="B04436"/>
                </a:solidFill>
              </a:rPr>
              <a:t>Der Unsicherheitsbereich</a:t>
            </a:r>
          </a:p>
          <a:p xmlns:a="http://schemas.openxmlformats.org/drawingml/2006/main">
            <a:pPr>
              <a:defRPr sz="2175" b="0">
                <a:solidFill>
                  <a:srgbClr val="B04436"/>
                </a:solidFill>
              </a:defRPr>
            </a:pPr>
            <a:r>
              <a:rPr sz="2175" b="0">
                <a:solidFill>
                  <a:srgbClr val="B04436"/>
                </a:solidFill>
              </a:rPr>
              <a:t>umfasst auch null.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33EAB-D038-4EB9-8A2A-DD47F153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Vier zusätzliche Käufe bei 1.000 Personen je Gruppe belegen in diesem Lehrbeispiel noch keinen positiven Effekt.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699C6-C568-4C52-AB01-3E6C38DE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Erfundene Zahlen. Ungefährer 95-%-Bereich für den Unterschied: −1,02 bis +1,82 Prozentpunkte.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4182C-4739-465C-B323-16E3D72C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921627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88B46D-8A14-4CF9-8480-3F0F08B3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Was Flight heute tatsächlich zeigt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26B47-EB65-4852-B705-FF5E1EC0C237}"/>
              </a:ext>
            </a:extLst>
          </p:cNvPr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10820400" cy="3238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572000"/>
                <a:gridCol w="624840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Bereich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2243B"/>
                          </a:solidFill>
                        </a:rPr>
                        <a:t>Projektstand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Geführte Geschichte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Fiktive Daten und nachvollziehbare Rechnungen.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Trainings- und Suchlabore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Ausführbare Methoden und dokumentierte Tests.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Bisherige öffentliche Datenversuche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Noch kein belastbarer Empfehlungsgewinn.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OpenAI-/Anthropic-Anbindungen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2243B"/>
                          </a:solidFill>
                        </a:rPr>
                        <a:t>Optional, ohne Schlüssel nicht live getestet.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AB303-DADC-4EDB-961A-E3B5A1B5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Das Portfolio zeigt die Umsetzung einer Geschäftsfrage. Der nächste Produktionsschritt wäre ein begrenzter Pilot mit Messung.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D9FBA-EAFF-4339-939C-D113B23E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Synthetische Tests, Amazon-Präfixtest und Criteo-Validierung sind getrennt dokumentiert.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1D50B-B66A-43F2-B1FB-D7593C3B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570598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3A223-D461-4EA5-86DF-59CE3D8C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1">
                <a:solidFill>
                  <a:srgbClr val="12243B"/>
                </a:solidFill>
              </a:defRPr>
            </a:defPPr>
            <a:lvl1pPr>
              <a:defRPr sz="2925" b="1">
                <a:solidFill>
                  <a:srgbClr val="12243B"/>
                </a:solidFill>
              </a:defRPr>
            </a:lvl1pPr>
            <a:lvl2pPr>
              <a:defRPr sz="2925" b="1">
                <a:solidFill>
                  <a:srgbClr val="12243B"/>
                </a:solidFill>
              </a:defRPr>
            </a:lvl2pPr>
            <a:lvl3pPr>
              <a:defRPr sz="2925" b="1">
                <a:solidFill>
                  <a:srgbClr val="12243B"/>
                </a:solidFill>
              </a:defRPr>
            </a:lvl3pPr>
            <a:lvl4pPr>
              <a:defRPr sz="2925" b="1">
                <a:solidFill>
                  <a:srgbClr val="12243B"/>
                </a:solidFill>
              </a:defRPr>
            </a:lvl4pPr>
            <a:lvl5pPr>
              <a:defRPr sz="2925" b="1">
                <a:solidFill>
                  <a:srgbClr val="12243B"/>
                </a:solidFill>
              </a:defRPr>
            </a:lvl5pPr>
            <a:lvl6pPr>
              <a:defRPr sz="2925" b="1">
                <a:solidFill>
                  <a:srgbClr val="12243B"/>
                </a:solidFill>
              </a:defRPr>
            </a:lvl6pPr>
            <a:lvl7pPr>
              <a:defRPr sz="2925" b="1">
                <a:solidFill>
                  <a:srgbClr val="12243B"/>
                </a:solidFill>
              </a:defRPr>
            </a:lvl7pPr>
            <a:lvl8pPr>
              <a:defRPr sz="2925" b="1">
                <a:solidFill>
                  <a:srgbClr val="12243B"/>
                </a:solidFill>
              </a:defRPr>
            </a:lvl8pPr>
            <a:lvl9pPr>
              <a:defRPr sz="29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2243B"/>
                </a:solidFill>
              </a:defRPr>
            </a:pPr>
            <a:r>
              <a:rPr sz="2925" b="1">
                <a:solidFill>
                  <a:srgbClr val="12243B"/>
                </a:solidFill>
              </a:rPr>
              <a:t>Technischer Anhang: Methoden nach Aufgabe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DF827-72DB-458C-B850-2AEC5A1C57E8}"/>
              </a:ext>
            </a:extLst>
          </p:cNvPr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10820400" cy="3667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667000"/>
                <a:gridCol w="4667250"/>
                <a:gridCol w="3486150"/>
              </a:tblGrid>
              <a:tr h="61118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243B"/>
                          </a:solidFill>
                        </a:rPr>
                        <a:t>Aufgabe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243B"/>
                          </a:solidFill>
                        </a:rPr>
                        <a:t>Verfahren im Projekt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243B"/>
                          </a:solidFill>
                        </a:rPr>
                        <a:t>Prüffrage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Suche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Wortvergleich, Sentence Transformers, CLIP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Passen die Treffer zur Anfrage?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Empfehlungen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Baselines, BERT4Rec, SASRec, LightGCN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Treffen wir den nächsten Artikel?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Zusätzliche Werbewirkung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T-Learner auf geeigneten Treatmentdaten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Hilft die Auswahl gegenüber Zufall?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Betrieb und Auskunft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Rechenfunktionen, Quellensuche, optionale LLMs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Sind Zahlen und Belege richtig?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Wirkungsprüfung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A/B-Lehrbeispiel; separates Ökonometrie-Labor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Ist der Unterschied belastbar?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6B13C-5BFB-414A-BB3E-50956796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Die Methoden beantworten verschiedene Fragen. Kein einzelnes Modell ersetzt die gesamte Entscheidungskette.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0F8472-F15D-447E-B86E-E827BB2E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Recall: Trefferquote. NDCG: Güte der Reihenfolge. LLM: großes Sprachmodell. Kompakte Implementierungen, keine Produktionsnachweise.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054F7-6961-46A0-8D62-18A25142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32239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8586D1-675D-460A-BD10-D6565B41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243B"/>
                </a:solidFill>
              </a:defRPr>
            </a:defPPr>
            <a:lvl1pPr>
              <a:defRPr sz="3225" b="1">
                <a:solidFill>
                  <a:srgbClr val="12243B"/>
                </a:solidFill>
              </a:defRPr>
            </a:lvl1pPr>
            <a:lvl2pPr>
              <a:defRPr sz="3225" b="1">
                <a:solidFill>
                  <a:srgbClr val="12243B"/>
                </a:solidFill>
              </a:defRPr>
            </a:lvl2pPr>
            <a:lvl3pPr>
              <a:defRPr sz="3225" b="1">
                <a:solidFill>
                  <a:srgbClr val="12243B"/>
                </a:solidFill>
              </a:defRPr>
            </a:lvl3pPr>
            <a:lvl4pPr>
              <a:defRPr sz="3225" b="1">
                <a:solidFill>
                  <a:srgbClr val="12243B"/>
                </a:solidFill>
              </a:defRPr>
            </a:lvl4pPr>
            <a:lvl5pPr>
              <a:defRPr sz="3225" b="1">
                <a:solidFill>
                  <a:srgbClr val="12243B"/>
                </a:solidFill>
              </a:defRPr>
            </a:lvl5pPr>
            <a:lvl6pPr>
              <a:defRPr sz="3225" b="1">
                <a:solidFill>
                  <a:srgbClr val="12243B"/>
                </a:solidFill>
              </a:defRPr>
            </a:lvl6pPr>
            <a:lvl7pPr>
              <a:defRPr sz="3225" b="1">
                <a:solidFill>
                  <a:srgbClr val="12243B"/>
                </a:solidFill>
              </a:defRPr>
            </a:lvl7pPr>
            <a:lvl8pPr>
              <a:defRPr sz="3225" b="1">
                <a:solidFill>
                  <a:srgbClr val="12243B"/>
                </a:solidFill>
              </a:defRPr>
            </a:lvl8pPr>
            <a:lvl9pPr>
              <a:defRPr sz="3225" b="1">
                <a:solidFill>
                  <a:srgbClr val="12243B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243B"/>
                </a:solidFill>
              </a:defRPr>
            </a:pPr>
            <a:r>
              <a:rPr sz="3225" b="1">
                <a:solidFill>
                  <a:srgbClr val="12243B"/>
                </a:solidFill>
              </a:rPr>
              <a:t>Technischer Anhang: Öffentliche Datenquellen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FB9EF-DAD4-4F57-8A3B-0C3B0A14469E}"/>
              </a:ext>
            </a:extLst>
          </p:cNvPr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108204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000500"/>
                <a:gridCol w="6819900"/>
              </a:tblGrid>
              <a:tr h="530679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243B"/>
                          </a:solidFill>
                        </a:rPr>
                        <a:t>Quelle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243B"/>
                          </a:solidFill>
                        </a:rPr>
                        <a:t>Wofür sie separat genutzt wird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T w="6668">
                      <a:solidFill>
                        <a:srgbClr val="CCD8D3"/>
                      </a:solidFill>
                      <a:prstDash val="solid"/>
                    </a:lnT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E0EBE4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Retailrocket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Zeitliche Artikelkontakte und Transaktionen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REES46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Verhaltensdaten aus weiteren Shopkategorien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Amazon-M2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Nächster Artikel einer Einkaufssitzung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Amazon Reviews 2023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Rezensionen und Produktinformationen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Amazon ESCI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Relevanz von Suchanfragen und Produkten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Criteo Uplift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CCD8D3"/>
                      </a:solidFill>
                      <a:prstDash val="solid"/>
                    </a:lnL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243B"/>
                          </a:solidFill>
                        </a:rPr>
                        <a:t>Werbung im Vergleich zu keiner Werbung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CCD8D3"/>
                      </a:solidFill>
                      <a:prstDash val="solid"/>
                    </a:lnR>
                    <a:lnB w="6668">
                      <a:solidFill>
                        <a:srgbClr val="CCD8D3"/>
                      </a:solidFill>
                      <a:prstDash val="solid"/>
                    </a:lnB>
                    <a:solidFill>
                      <a:srgbClr val="F7F3EB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4763C-21B0-4A88-BAAA-B1195EC8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D6D62"/>
                </a:solidFill>
              </a:defRPr>
            </a:defPPr>
            <a:lvl1pPr>
              <a:defRPr sz="2175" b="1">
                <a:solidFill>
                  <a:srgbClr val="1D6D62"/>
                </a:solidFill>
              </a:defRPr>
            </a:lvl1pPr>
            <a:lvl2pPr>
              <a:defRPr sz="2175" b="1">
                <a:solidFill>
                  <a:srgbClr val="1D6D62"/>
                </a:solidFill>
              </a:defRPr>
            </a:lvl2pPr>
            <a:lvl3pPr>
              <a:defRPr sz="2175" b="1">
                <a:solidFill>
                  <a:srgbClr val="1D6D62"/>
                </a:solidFill>
              </a:defRPr>
            </a:lvl3pPr>
            <a:lvl4pPr>
              <a:defRPr sz="2175" b="1">
                <a:solidFill>
                  <a:srgbClr val="1D6D62"/>
                </a:solidFill>
              </a:defRPr>
            </a:lvl4pPr>
            <a:lvl5pPr>
              <a:defRPr sz="2175" b="1">
                <a:solidFill>
                  <a:srgbClr val="1D6D62"/>
                </a:solidFill>
              </a:defRPr>
            </a:lvl5pPr>
            <a:lvl6pPr>
              <a:defRPr sz="2175" b="1">
                <a:solidFill>
                  <a:srgbClr val="1D6D62"/>
                </a:solidFill>
              </a:defRPr>
            </a:lvl6pPr>
            <a:lvl7pPr>
              <a:defRPr sz="2175" b="1">
                <a:solidFill>
                  <a:srgbClr val="1D6D62"/>
                </a:solidFill>
              </a:defRPr>
            </a:lvl7pPr>
            <a:lvl8pPr>
              <a:defRPr sz="2175" b="1">
                <a:solidFill>
                  <a:srgbClr val="1D6D62"/>
                </a:solidFill>
              </a:defRPr>
            </a:lvl8pPr>
            <a:lvl9pPr>
              <a:defRPr sz="2175" b="1">
                <a:solidFill>
                  <a:srgbClr val="1D6D62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D6D62"/>
                </a:solidFill>
              </a:defRPr>
            </a:pPr>
            <a:r>
              <a:rPr sz="2175" b="1">
                <a:solidFill>
                  <a:srgbClr val="1D6D62"/>
                </a:solidFill>
              </a:rPr>
              <a:t>Die Quellen bleiben getrennte Aufgaben. Sie bilden keinen gemeinsamen Kunden und keinen gemeinsamen Shop ab.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E8128-1A82-4B9A-A74C-7F41B300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2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F6E"/>
                </a:solidFill>
              </a:defRPr>
            </a:defPPr>
            <a:lvl1pPr>
              <a:defRPr sz="1575" b="0">
                <a:solidFill>
                  <a:srgbClr val="4B5F6E"/>
                </a:solidFill>
              </a:defRPr>
            </a:lvl1pPr>
            <a:lvl2pPr>
              <a:defRPr sz="1575" b="0">
                <a:solidFill>
                  <a:srgbClr val="4B5F6E"/>
                </a:solidFill>
              </a:defRPr>
            </a:lvl2pPr>
            <a:lvl3pPr>
              <a:defRPr sz="1575" b="0">
                <a:solidFill>
                  <a:srgbClr val="4B5F6E"/>
                </a:solidFill>
              </a:defRPr>
            </a:lvl3pPr>
            <a:lvl4pPr>
              <a:defRPr sz="1575" b="0">
                <a:solidFill>
                  <a:srgbClr val="4B5F6E"/>
                </a:solidFill>
              </a:defRPr>
            </a:lvl4pPr>
            <a:lvl5pPr>
              <a:defRPr sz="1575" b="0">
                <a:solidFill>
                  <a:srgbClr val="4B5F6E"/>
                </a:solidFill>
              </a:defRPr>
            </a:lvl5pPr>
            <a:lvl6pPr>
              <a:defRPr sz="1575" b="0">
                <a:solidFill>
                  <a:srgbClr val="4B5F6E"/>
                </a:solidFill>
              </a:defRPr>
            </a:lvl6pPr>
            <a:lvl7pPr>
              <a:defRPr sz="1575" b="0">
                <a:solidFill>
                  <a:srgbClr val="4B5F6E"/>
                </a:solidFill>
              </a:defRPr>
            </a:lvl7pPr>
            <a:lvl8pPr>
              <a:defRPr sz="1575" b="0">
                <a:solidFill>
                  <a:srgbClr val="4B5F6E"/>
                </a:solidFill>
              </a:defRPr>
            </a:lvl8pPr>
            <a:lvl9pPr>
              <a:defRPr sz="1575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F6E"/>
                </a:solidFill>
              </a:defRPr>
            </a:pPr>
            <a:r>
              <a:rPr sz="1575" b="0">
                <a:solidFill>
                  <a:srgbClr val="4B5F6E"/>
                </a:solidFill>
              </a:rPr>
              <a:t>Margen, Bestände und Lieferzeiten des Beispielshops sind Annahmen.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182CE-E2DF-46D7-9ADF-74B0D7F4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F6E"/>
                </a:solidFill>
              </a:defRPr>
            </a:defPPr>
            <a:lvl1pPr>
              <a:defRPr sz="1200" b="0">
                <a:solidFill>
                  <a:srgbClr val="4B5F6E"/>
                </a:solidFill>
              </a:defRPr>
            </a:lvl1pPr>
            <a:lvl2pPr>
              <a:defRPr sz="1200" b="0">
                <a:solidFill>
                  <a:srgbClr val="4B5F6E"/>
                </a:solidFill>
              </a:defRPr>
            </a:lvl2pPr>
            <a:lvl3pPr>
              <a:defRPr sz="1200" b="0">
                <a:solidFill>
                  <a:srgbClr val="4B5F6E"/>
                </a:solidFill>
              </a:defRPr>
            </a:lvl3pPr>
            <a:lvl4pPr>
              <a:defRPr sz="1200" b="0">
                <a:solidFill>
                  <a:srgbClr val="4B5F6E"/>
                </a:solidFill>
              </a:defRPr>
            </a:lvl4pPr>
            <a:lvl5pPr>
              <a:defRPr sz="1200" b="0">
                <a:solidFill>
                  <a:srgbClr val="4B5F6E"/>
                </a:solidFill>
              </a:defRPr>
            </a:lvl5pPr>
            <a:lvl6pPr>
              <a:defRPr sz="1200" b="0">
                <a:solidFill>
                  <a:srgbClr val="4B5F6E"/>
                </a:solidFill>
              </a:defRPr>
            </a:lvl6pPr>
            <a:lvl7pPr>
              <a:defRPr sz="1200" b="0">
                <a:solidFill>
                  <a:srgbClr val="4B5F6E"/>
                </a:solidFill>
              </a:defRPr>
            </a:lvl7pPr>
            <a:lvl8pPr>
              <a:defRPr sz="1200" b="0">
                <a:solidFill>
                  <a:srgbClr val="4B5F6E"/>
                </a:solidFill>
              </a:defRPr>
            </a:lvl8pPr>
            <a:lvl9pPr>
              <a:defRPr sz="1200" b="0">
                <a:solidFill>
                  <a:srgbClr val="4B5F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F6E"/>
                </a:solidFill>
              </a:defRPr>
            </a:pPr>
            <a:r>
              <a:rPr sz="1200" b="0">
                <a:solidFill>
                  <a:srgbClr val="4B5F6E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156958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2026-10-27T05:58:19.8260000Z</dcterms:created>
  <dcterms:modified xsi:type="dcterms:W3CDTF">2026-10-27T05:58:19.8260000Z</dcterms:modified>
</coreProperties>
</file>