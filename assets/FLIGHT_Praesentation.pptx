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074708381e4c03" /><Relationship Type="http://schemas.openxmlformats.org/officeDocument/2006/relationships/extended-properties" Target="/docProps/app.xml" Id="R4d92ae5e191d4ce9" /><Relationship Type="http://schemas.openxmlformats.org/officeDocument/2006/relationships/officeDocument" Target="/ppt/presentation.xml" Id="R412d1d9b7560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fa55b16a76441b"/>
  </p:sldMasterIdLst>
  <p:notesMasterIdLst>
    <p:notesMasterId xmlns:r="http://schemas.openxmlformats.org/officeDocument/2006/relationships" r:id="R6c5ad9acf01b4972"/>
  </p:notesMasterIdLst>
  <p:sldIdLst>
    <p:sldId xmlns:r="http://schemas.openxmlformats.org/officeDocument/2006/relationships" id="256" r:id="R07c37ff5986b409c"/>
    <p:sldId xmlns:r="http://schemas.openxmlformats.org/officeDocument/2006/relationships" id="257" r:id="R0a6392ac73174a41"/>
    <p:sldId xmlns:r="http://schemas.openxmlformats.org/officeDocument/2006/relationships" id="258" r:id="R159dbfc308d04033"/>
    <p:sldId xmlns:r="http://schemas.openxmlformats.org/officeDocument/2006/relationships" id="259" r:id="Rdd19419b39b24336"/>
    <p:sldId xmlns:r="http://schemas.openxmlformats.org/officeDocument/2006/relationships" id="260" r:id="R6fff5b258c11489e"/>
    <p:sldId xmlns:r="http://schemas.openxmlformats.org/officeDocument/2006/relationships" id="261" r:id="R5150ff26e3a643f5"/>
    <p:sldId xmlns:r="http://schemas.openxmlformats.org/officeDocument/2006/relationships" id="262" r:id="R04e74d2bc9214887"/>
    <p:sldId xmlns:r="http://schemas.openxmlformats.org/officeDocument/2006/relationships" id="263" r:id="R43d8d7f75aa1411d"/>
    <p:sldId xmlns:r="http://schemas.openxmlformats.org/officeDocument/2006/relationships" id="264" r:id="R1dec25fc10aa4def"/>
    <p:sldId xmlns:r="http://schemas.openxmlformats.org/officeDocument/2006/relationships" id="265" r:id="R0fbac8f8342048c6"/>
    <p:sldId xmlns:r="http://schemas.openxmlformats.org/officeDocument/2006/relationships" id="266" r:id="Rbb0a93bf7fec4a71"/>
    <p:sldId xmlns:r="http://schemas.openxmlformats.org/officeDocument/2006/relationships" id="267" r:id="R35022bcf3cbc42db"/>
    <p:sldId xmlns:r="http://schemas.openxmlformats.org/officeDocument/2006/relationships" id="268" r:id="Rcaf8c169677b41fc"/>
    <p:sldId xmlns:r="http://schemas.openxmlformats.org/officeDocument/2006/relationships" id="269" r:id="Re473c8b0e72f4a6f"/>
    <p:sldId xmlns:r="http://schemas.openxmlformats.org/officeDocument/2006/relationships" id="270" r:id="R02dac05ea7c14e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aa119fa85b4bd6" /><Relationship Type="http://schemas.openxmlformats.org/officeDocument/2006/relationships/slideMaster" Target="/ppt/slideMasters/slideMaster1.xml" Id="R52fa55b16a76441b" /><Relationship Type="http://schemas.openxmlformats.org/officeDocument/2006/relationships/notesMaster" Target="/ppt/notesMasters/notesMaster1.xml" Id="R6c5ad9acf01b4972" /><Relationship Type="http://schemas.openxmlformats.org/officeDocument/2006/relationships/presProps" Target="/ppt/presProps.xml" Id="R60040955df664630" /><Relationship Type="http://schemas.openxmlformats.org/officeDocument/2006/relationships/tableStyles" Target="/ppt/tableStyles.xml" Id="R22962c64d17f4649" /><Relationship Type="http://schemas.openxmlformats.org/officeDocument/2006/relationships/slide" Target="/ppt/slides/slide1.xml" Id="R07c37ff5986b409c" /><Relationship Type="http://schemas.openxmlformats.org/officeDocument/2006/relationships/slide" Target="/ppt/slides/slide2.xml" Id="R0a6392ac73174a41" /><Relationship Type="http://schemas.openxmlformats.org/officeDocument/2006/relationships/slide" Target="/ppt/slides/slide3.xml" Id="R159dbfc308d04033" /><Relationship Type="http://schemas.openxmlformats.org/officeDocument/2006/relationships/slide" Target="/ppt/slides/slide4.xml" Id="Rdd19419b39b24336" /><Relationship Type="http://schemas.openxmlformats.org/officeDocument/2006/relationships/slide" Target="/ppt/slides/slide5.xml" Id="R6fff5b258c11489e" /><Relationship Type="http://schemas.openxmlformats.org/officeDocument/2006/relationships/slide" Target="/ppt/slides/slide6.xml" Id="R5150ff26e3a643f5" /><Relationship Type="http://schemas.openxmlformats.org/officeDocument/2006/relationships/slide" Target="/ppt/slides/slide7.xml" Id="R04e74d2bc9214887" /><Relationship Type="http://schemas.openxmlformats.org/officeDocument/2006/relationships/slide" Target="/ppt/slides/slide8.xml" Id="R43d8d7f75aa1411d" /><Relationship Type="http://schemas.openxmlformats.org/officeDocument/2006/relationships/slide" Target="/ppt/slides/slide9.xml" Id="R1dec25fc10aa4def" /><Relationship Type="http://schemas.openxmlformats.org/officeDocument/2006/relationships/slide" Target="/ppt/slides/slide10.xml" Id="R0fbac8f8342048c6" /><Relationship Type="http://schemas.openxmlformats.org/officeDocument/2006/relationships/slide" Target="/ppt/slides/slide11.xml" Id="Rbb0a93bf7fec4a71" /><Relationship Type="http://schemas.openxmlformats.org/officeDocument/2006/relationships/slide" Target="/ppt/slides/slide12.xml" Id="R35022bcf3cbc42db" /><Relationship Type="http://schemas.openxmlformats.org/officeDocument/2006/relationships/slide" Target="/ppt/slides/slide13.xml" Id="Rcaf8c169677b41fc" /><Relationship Type="http://schemas.openxmlformats.org/officeDocument/2006/relationships/slide" Target="/ppt/slides/slide14.xml" Id="Re473c8b0e72f4a6f" /><Relationship Type="http://schemas.openxmlformats.org/officeDocument/2006/relationships/slide" Target="/ppt/slides/slide15.xml" Id="R02dac05ea7c14e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87e3fecd984c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8c872cae034cfd" /><Relationship Type="http://schemas.openxmlformats.org/officeDocument/2006/relationships/notesMaster" Target="/ppt/notesMasters/notesMaster1.xml" Id="R496d52c0c0374e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e057194f76406c" /><Relationship Type="http://schemas.openxmlformats.org/officeDocument/2006/relationships/notesMaster" Target="/ppt/notesMasters/notesMaster1.xml" Id="R00576d78d1e245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5d3734b1ca465a" /><Relationship Type="http://schemas.openxmlformats.org/officeDocument/2006/relationships/notesMaster" Target="/ppt/notesMasters/notesMaster1.xml" Id="Rc5757796b63a45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e4805e9ac94078" /><Relationship Type="http://schemas.openxmlformats.org/officeDocument/2006/relationships/notesMaster" Target="/ppt/notesMasters/notesMaster1.xml" Id="Rc3857ad83be34b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f82dc0101641d7" /><Relationship Type="http://schemas.openxmlformats.org/officeDocument/2006/relationships/notesMaster" Target="/ppt/notesMasters/notesMaster1.xml" Id="R97a3830dbcdc43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1f246655b3404b" /><Relationship Type="http://schemas.openxmlformats.org/officeDocument/2006/relationships/notesMaster" Target="/ppt/notesMasters/notesMaster1.xml" Id="Re64a2317fa2546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b7e61ee0084d3d" /><Relationship Type="http://schemas.openxmlformats.org/officeDocument/2006/relationships/notesMaster" Target="/ppt/notesMasters/notesMaster1.xml" Id="Rb799a5d240b948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82dcaa9ce5407a" /><Relationship Type="http://schemas.openxmlformats.org/officeDocument/2006/relationships/notesMaster" Target="/ppt/notesMasters/notesMaster1.xml" Id="R034f30f6ee9140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5fef831bf34d65" /><Relationship Type="http://schemas.openxmlformats.org/officeDocument/2006/relationships/notesMaster" Target="/ppt/notesMasters/notesMaster1.xml" Id="Rf4149971be9242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cb62fe40454f60" /><Relationship Type="http://schemas.openxmlformats.org/officeDocument/2006/relationships/notesMaster" Target="/ppt/notesMasters/notesMaster1.xml" Id="R8de7163f36744a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e7316c5bca491e" /><Relationship Type="http://schemas.openxmlformats.org/officeDocument/2006/relationships/notesMaster" Target="/ppt/notesMasters/notesMaster1.xml" Id="R058c076645f54b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19756e488e4792" /><Relationship Type="http://schemas.openxmlformats.org/officeDocument/2006/relationships/notesMaster" Target="/ppt/notesMasters/notesMaster1.xml" Id="Ra4f1ab173b1a41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d7772ca3eb4e97" /><Relationship Type="http://schemas.openxmlformats.org/officeDocument/2006/relationships/notesMaster" Target="/ppt/notesMasters/notesMaster1.xml" Id="R418bd22c486c43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39bf3e9924451d" /><Relationship Type="http://schemas.openxmlformats.org/officeDocument/2006/relationships/notesMaster" Target="/ppt/notesMasters/notesMaster1.xml" Id="R7a63d698053645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7da9d591dd4630" /><Relationship Type="http://schemas.openxmlformats.org/officeDocument/2006/relationships/notesMaster" Target="/ppt/notesMasters/notesMaster1.xml" Id="R1a251d94ad084b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KI-generierte Illustration. Fiktive Figuren und fiktiver Shop.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Projektstand: kompakte ausführbare Implementierungen und Simulationen. Kein Nachweis kommerzieller Wirkung. Öffentliche Quellen: https://www.kaggle.com/datasets/retailrocket/ecommerce-dataset ; https://rees46.com/en/datasets ; https://github.com/HaitaoMao/Amazon-M2-Session-Recommendation ; https://amazon-reviews-2023.github.io/ ; https://github.com/amazon-science/esci-data ; https://huggingface.co/datasets/criteo/criteo-uplift ; https://developers.openai.com/api/docs/guides/tools ; https://platform.claude.com/docs/en/agents-and-tools/tool-use/how-tool-use-works . Modelle und Daten benötigen getrennte Evaluation. Portfolio von Amit Steinberg.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c1c4714e146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5b3262cee48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89cdff41241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200c85d4d48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b0f55a42541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b532a276442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DD40D1-A3CB-45D3-966C-68CBE83D80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E57387-0124-4629-BFB5-C984C6016D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7AC3CD-3CBC-44EE-8BF9-25878E6353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ACAB04-05A3-45D9-9D6D-7189987CE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B098C7-ADF5-4DE1-967A-85B8C5313A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6FCBE3-AD77-4396-B655-762343ABB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80B9ED-A217-492D-874B-E222B858FE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D6ECE4-210F-4462-A0E5-327E21A286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D37170-FFEB-4CBC-B87E-92E389F1E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93CABA-5730-4B09-A71C-0E2AE03AAE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379a1ca887429a" /><Relationship Type="http://schemas.openxmlformats.org/officeDocument/2006/relationships/slideLayout" Target="/ppt/slideLayouts/slideLayout1.xml" Id="R96a8db3453fc4aa0" /><Relationship Type="http://schemas.openxmlformats.org/officeDocument/2006/relationships/slideLayout" Target="/ppt/slideLayouts/slideLayout2.xml" Id="Rd8ce1a4bcce642fd" /><Relationship Type="http://schemas.openxmlformats.org/officeDocument/2006/relationships/slideLayout" Target="/ppt/slideLayouts/slideLayout3.xml" Id="Rc9f41cb234f74b37" /><Relationship Type="http://schemas.openxmlformats.org/officeDocument/2006/relationships/slideLayout" Target="/ppt/slideLayouts/slideLayout4.xml" Id="R77b7abadfd904623" /><Relationship Type="http://schemas.openxmlformats.org/officeDocument/2006/relationships/slideLayout" Target="/ppt/slideLayouts/slideLayout5.xml" Id="R88fbb8905754497a" /><Relationship Type="http://schemas.openxmlformats.org/officeDocument/2006/relationships/slideLayout" Target="/ppt/slideLayouts/slideLayout6.xml" Id="R2b2c05f3cfc34a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a8db3453fc4aa0"/>
    <p:sldLayoutId xmlns:r="http://schemas.openxmlformats.org/officeDocument/2006/relationships" id="2147483650" r:id="Rd8ce1a4bcce642fd"/>
    <p:sldLayoutId xmlns:r="http://schemas.openxmlformats.org/officeDocument/2006/relationships" id="2147483651" r:id="Rc9f41cb234f74b37"/>
    <p:sldLayoutId xmlns:r="http://schemas.openxmlformats.org/officeDocument/2006/relationships" id="2147483652" r:id="R77b7abadfd904623"/>
    <p:sldLayoutId xmlns:r="http://schemas.openxmlformats.org/officeDocument/2006/relationships" id="2147483653" r:id="R88fbb8905754497a"/>
    <p:sldLayoutId xmlns:r="http://schemas.openxmlformats.org/officeDocument/2006/relationships" id="2147483654" r:id="R2b2c05f3cfc34a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bb61c33df4d66" /><Relationship Type="http://schemas.openxmlformats.org/officeDocument/2006/relationships/image" Target="/ppt/media/image.jpeg" Id="R23b7a911e5a94348" /><Relationship Type="http://schemas.openxmlformats.org/officeDocument/2006/relationships/notesSlide" Target="/ppt/notesSlides/notesSlide1.xml" Id="R2f94855673e848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1c582fc544077" /><Relationship Type="http://schemas.openxmlformats.org/officeDocument/2006/relationships/notesSlide" Target="/ppt/notesSlides/notesSlide2.xml" Id="R68a85b0bdcd64c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909fcb53444721" /><Relationship Type="http://schemas.openxmlformats.org/officeDocument/2006/relationships/notesSlide" Target="/ppt/notesSlides/notesSlide3.xml" Id="Rc6f2046ae48d41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7592360104d93" /><Relationship Type="http://schemas.openxmlformats.org/officeDocument/2006/relationships/notesSlide" Target="/ppt/notesSlides/notesSlide4.xml" Id="Rf5bec5e10f1840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0511190564cb6" /><Relationship Type="http://schemas.openxmlformats.org/officeDocument/2006/relationships/notesSlide" Target="/ppt/notesSlides/notesSlide5.xml" Id="R9073457604b04f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08f9aaa0f4cd7" /><Relationship Type="http://schemas.openxmlformats.org/officeDocument/2006/relationships/notesSlide" Target="/ppt/notesSlides/notesSlide6.xml" Id="R2744fbb9c59f43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abfc716494b6b" /><Relationship Type="http://schemas.openxmlformats.org/officeDocument/2006/relationships/notesSlide" Target="/ppt/notesSlides/notesSlide7.xml" Id="Rcf382570d7d74f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8b44adcf54ed0" /><Relationship Type="http://schemas.openxmlformats.org/officeDocument/2006/relationships/notesSlide" Target="/ppt/notesSlides/notesSlide8.xml" Id="R01e60be365ae40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59dba04c642f9" /><Relationship Type="http://schemas.openxmlformats.org/officeDocument/2006/relationships/notesSlide" Target="/ppt/notesSlides/notesSlide9.xml" Id="R81568163a20a40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f74ec00b149da" /><Relationship Type="http://schemas.openxmlformats.org/officeDocument/2006/relationships/notesSlide" Target="/ppt/notesSlides/notesSlide10.xml" Id="R5e98c3f53d9e41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5cecd02856405d" /><Relationship Type="http://schemas.openxmlformats.org/officeDocument/2006/relationships/notesSlide" Target="/ppt/notesSlides/notesSlide11.xml" Id="R0c0a03e6d89c41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f0eab74ec4e14" /><Relationship Type="http://schemas.openxmlformats.org/officeDocument/2006/relationships/notesSlide" Target="/ppt/notesSlides/notesSlide12.xml" Id="Rf622216a379c4f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95b841c484870" /><Relationship Type="http://schemas.openxmlformats.org/officeDocument/2006/relationships/notesSlide" Target="/ppt/notesSlides/notesSlide13.xml" Id="Rcbcb341151f04c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7096f2302c455b" /><Relationship Type="http://schemas.openxmlformats.org/officeDocument/2006/relationships/notesSlide" Target="/ppt/notesSlides/notesSlide14.xml" Id="R0bf32af3730642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817375e5d43b3" /><Relationship Type="http://schemas.openxmlformats.org/officeDocument/2006/relationships/notesSlide" Target="/ppt/notesSlides/notesSlide15.xml" Id="R22bc05d376184e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8F204-4D95-4EA1-B049-17CFFC59A1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7a911e5a9434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19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94225-27D9-4342-AE1F-F3BD2708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Annas Einkaufsreise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C0F39-86DC-4F28-A7F9-5EE75095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Ein Klick ist ein Hinweis.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Die Reihenfolge erzählt eine Geschichte.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C7DEA-DE78-435F-8238-941130B5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Popularität und ItemKNN bilden die Baseline.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BERT4Rec, SASRec und LightGCN treten im selben Test 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E2DCB-60BF-453C-9C01-7837787E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Wer einmal einen Toaster anklickt, ist noch kein Brotbeauftragter.</a:t>
            </a:r>
          </a:p>
        </p:txBody>
      </p:sp>
    </p:spTree>
    <p:extLst>
      <p:ext uri="{BB962C8B-B14F-4D97-AF65-F5344CB8AC3E}">
        <p14:creationId xmlns:p14="http://schemas.microsoft.com/office/powerpoint/2010/main" val="1037040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33734-F24B-4621-AC84-00E3AB4E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Produkte verstehen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EB432-243D-4E4B-A3E7-F6D125B0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„Klein, schwarz und für meine Küche.“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Kunden sprechen selten in Artikelnummern.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AD857-9C50-4F19-9742-85015465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TF-IDF liefert die Textbaseline.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Sentence Transformers verstehen Textähnlichkeit.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CLIP verbindet Texte mit Bildern.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BEE14-A8E5-4128-9452-BD66ADF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Bildsuche erzeugt kein Bild. Auch die KI hat Stellenbeschreibungen.</a:t>
            </a:r>
          </a:p>
        </p:txBody>
      </p:sp>
    </p:spTree>
    <p:extLst>
      <p:ext uri="{BB962C8B-B14F-4D97-AF65-F5344CB8AC3E}">
        <p14:creationId xmlns:p14="http://schemas.microsoft.com/office/powerpoint/2010/main" val="754768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5C5E3-4FC7-4C4F-87D7-B3A6BA1E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Marketing mit Gegenprobe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DEA60-D62D-480D-8279-817384A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Wer kauft, ist nicht automatisch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wegen unserer Werbung überzeugt.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AEBBF-E62F-4DCC-AD16-104297BE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Ein T-Learner schätzt Unterschiede zwischen Treatment und Kontrolle.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Ein separater Test prüft die Auswahlpolitik.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05DF7-C553-44F1-97B6-6E4BF69D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Dem sicheren Käufer einen Rabatt geben: die teuerste Form der Höflichkeit.</a:t>
            </a:r>
          </a:p>
        </p:txBody>
      </p:sp>
    </p:spTree>
    <p:extLst>
      <p:ext uri="{BB962C8B-B14F-4D97-AF65-F5344CB8AC3E}">
        <p14:creationId xmlns:p14="http://schemas.microsoft.com/office/powerpoint/2010/main" val="1072162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4FADA-1C99-4F41-8A22-EA6DFAE1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Deckungsbeitrag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65B7B-4A4A-4B78-97D3-BEBBADB6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Umsatz ist ein Anfang.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Variable Kosten haben auch eine Meinung.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6F86F-5F3F-41BF-9BCA-50FCCC3F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Die Story verbindet Rabatte, Retouren, Wareneinsatz und Werbung.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Die Simulation zeigt Annahmen ausdrücklich.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70127-A7CA-4BE8-95B2-0836EC83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Der CFO akzeptiert leider keine NDCG-Punkte als Zahlungsmittel.</a:t>
            </a:r>
          </a:p>
        </p:txBody>
      </p:sp>
    </p:spTree>
    <p:extLst>
      <p:ext uri="{BB962C8B-B14F-4D97-AF65-F5344CB8AC3E}">
        <p14:creationId xmlns:p14="http://schemas.microsoft.com/office/powerpoint/2010/main" val="1102726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C6F81-834B-42ED-B74B-C639E410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Öffentliche Daten und Evidenz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D98C1-B94D-49E3-9D97-4707A998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Jeder Datensatz beantwortet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eine eigene Frage.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C3FA2-AC5E-4F94-A662-25D294CD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Retailrocket und REES46: Ereignisse. Amazon-M2: Sessions.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Amazon Reviews: Rezensionen. ESCI: Suchrelevanz.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Criteo: Treatment und Kontrolle.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A3653-0960-4F04-889D-8B7A0C00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Kunden-IDs verschiedener Shops sind keine Fernbeziehung.</a:t>
            </a:r>
          </a:p>
        </p:txBody>
      </p:sp>
    </p:spTree>
    <p:extLst>
      <p:ext uri="{BB962C8B-B14F-4D97-AF65-F5344CB8AC3E}">
        <p14:creationId xmlns:p14="http://schemas.microsoft.com/office/powerpoint/2010/main" val="47963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52B64-9FC8-4C21-A338-06000ACD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Das Portfolio im Gespräch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B8BD3-D337-4922-AB12-84D3AD5F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Ein Geschäftsproblem.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Mehrere überprüfbare Lösungswege.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196DD-025F-4B5D-B5BC-614F9D37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Deutsche Streamlit-Story und ausführbare Trainingslabore.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Reproduzierbare Protokolle, Kostenannahmen und Tests.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Kompakte Modelle mit klaren Grenzen.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AE91C-1FDA-4BB8-B6DD-D487EF1C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Die Simulation ist fiktiv. Die Implementierung muss trotzdem funktionieren.</a:t>
            </a:r>
          </a:p>
        </p:txBody>
      </p:sp>
    </p:spTree>
    <p:extLst>
      <p:ext uri="{BB962C8B-B14F-4D97-AF65-F5344CB8AC3E}">
        <p14:creationId xmlns:p14="http://schemas.microsoft.com/office/powerpoint/2010/main" val="1182246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3F480-C35C-4D19-86D9-C051EB6A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KI im Unternehmen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E3524-AD69-480C-9A59-99E2757E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Zwölf Geschäftsprobleme.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Für jedes eine prüfbare Aufgabe.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CFD82-B95A-4FA7-BA4C-C3DF0A51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Einkauf, Marketing, Kundenservice und Finanzen.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Jede Episode nennt Datenbedarf, Entscheidung und Zielmetrik.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F1FE7-55EF-4797-9C5A-C0DF0588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Die KI bekommt einen Firmenausweis. Noch keine Zeichnungsberechtigung.</a:t>
            </a:r>
          </a:p>
        </p:txBody>
      </p:sp>
    </p:spTree>
    <p:extLst>
      <p:ext uri="{BB962C8B-B14F-4D97-AF65-F5344CB8AC3E}">
        <p14:creationId xmlns:p14="http://schemas.microsoft.com/office/powerpoint/2010/main" val="1615878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B3C31-CEE3-47D6-A212-D6B6A8BA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Copilot, Agent und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59711-2BDB-41DE-9E80-B3C70AD3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Ein Ziel braucht Werkzeuge.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Ein Werkzeug braucht Grenzen.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6B330-A5B6-48DE-8852-26C0B28E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Copiloten unterstützen Menschen. Agenten können Schritte wählen.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Der lokale Flight-Ablauf führt feste Python-Werkzeuge aus.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38573-FEE0-472B-8F9E-446F6820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Ein Chatfenster allein ist noch keine Abteilung.</a:t>
            </a:r>
          </a:p>
        </p:txBody>
      </p:sp>
    </p:spTree>
    <p:extLst>
      <p:ext uri="{BB962C8B-B14F-4D97-AF65-F5344CB8AC3E}">
        <p14:creationId xmlns:p14="http://schemas.microsoft.com/office/powerpoint/2010/main" val="7551070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E65A4-9547-4740-B716-11393030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ChatGPT, Claude und weitere Modelle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1BD84-13A7-4977-8E84-09D0570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Die Aufgabe bestimmt die Auswahl.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Eigene Testfälle liefern den Vergleich.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04E4C-3D88-4B01-B73F-17940B5E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Optionale OpenAI- und Anthropic-Adapter formulieren Entwürfe.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Gemini und lokale Modelle bleiben Architekturoptionen.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CC780-126F-4F6D-879C-AE643B59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Ein Markenname ist kein Konfidenzintervall.</a:t>
            </a:r>
          </a:p>
        </p:txBody>
      </p:sp>
    </p:spTree>
    <p:extLst>
      <p:ext uri="{BB962C8B-B14F-4D97-AF65-F5344CB8AC3E}">
        <p14:creationId xmlns:p14="http://schemas.microsoft.com/office/powerpoint/2010/main" val="1792024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6BADB-0B8C-4505-A6EB-89D35266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Die Agenten-Kommandozentrale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0AA46-B8A2-4CAE-B408-C6C4EA13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Der Controller rechnet.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Der Einkauf prüft den Bestand.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FA1DC-AFCF-4C3B-B943-E32E1F98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Das Cockpit berechnet DB und Meldebestand.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Es sucht Handbuchquellen und protokolliert Ergebnisse.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C1747-CB86-44A3-966B-1286A5B7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Die Bestellung bleibt beim Einkauf. Der Agent hat keinen Einkaufswagenführerschein.</a:t>
            </a:r>
          </a:p>
        </p:txBody>
      </p:sp>
    </p:spTree>
    <p:extLst>
      <p:ext uri="{BB962C8B-B14F-4D97-AF65-F5344CB8AC3E}">
        <p14:creationId xmlns:p14="http://schemas.microsoft.com/office/powerpoint/2010/main" val="7233180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8C165-15EB-4353-80D9-BC8AC577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Unternehmenswissen mit Fundstellen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B1542-6364-4531-A421-18759D1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Antworten brauchen Quellen.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Fehlendes Wissen braucht eine Rückfrage.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9F716-1454-4B61-A67E-F3029BAE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TF-IDF durchsucht ein fiktives Handbuch.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Ein optionales Sprachmodell kann aus belegtem Kontext formulieren.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004C4-154D-4600-865B-0483B93C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RAG verhindert nicht den Urlaub. Es verhindert den Anruf im Urlaub.</a:t>
            </a:r>
          </a:p>
        </p:txBody>
      </p:sp>
    </p:spTree>
    <p:extLst>
      <p:ext uri="{BB962C8B-B14F-4D97-AF65-F5344CB8AC3E}">
        <p14:creationId xmlns:p14="http://schemas.microsoft.com/office/powerpoint/2010/main" val="16539549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C1D00-73DF-40FD-873A-49714333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Content und Produkteigenschaften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41E2B-1AA2-4FFB-87DD-1CA4B6E2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Kreative Varianten brauchen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verlässliche Produktfakten.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75CA1-7C47-428A-8FA7-FF2CAE7E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Das Contentstudio erstellt nachvollziehbare Vorlagen.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Marketing prüft Claims und misst die Wirkung im Experiment.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5B387-0CFB-415C-8FB2-40BFA111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„Wasserfest“ entsteht nicht durch einen besonders flüssigen Prompt.</a:t>
            </a:r>
          </a:p>
        </p:txBody>
      </p:sp>
    </p:spTree>
    <p:extLst>
      <p:ext uri="{BB962C8B-B14F-4D97-AF65-F5344CB8AC3E}">
        <p14:creationId xmlns:p14="http://schemas.microsoft.com/office/powerpoint/2010/main" val="13796096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AD7AB-7FB1-4FC9-8E4E-35B023D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Der KI-Business-Case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EA766-A593-4204-B525-2E9344B2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Zeitgewinn ist Kapazität.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Budgetnutzen braucht weitere Annahmen.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DD99B-FDC1-4361-9828-F7B1D344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Das Cockpit berücksichtigt Prüfung, Nutzung und Realisierung.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Modellkosten, Betreuung und Implementierung bleiben sichtbar.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4196D-1683-4FF6-B659-216D7DC5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Der Bot bekommt eine Kostenstelle. Der CFO lächelt zum ersten Mal.</a:t>
            </a:r>
          </a:p>
        </p:txBody>
      </p:sp>
    </p:spTree>
    <p:extLst>
      <p:ext uri="{BB962C8B-B14F-4D97-AF65-F5344CB8AC3E}">
        <p14:creationId xmlns:p14="http://schemas.microsoft.com/office/powerpoint/2010/main" val="580580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B9C04-C9ED-4D92-862F-2B099BC7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6DDC0"/>
                </a:solidFill>
              </a:defRPr>
            </a:defPPr>
            <a:lvl1pPr>
              <a:defRPr sz="3450" b="1">
                <a:solidFill>
                  <a:srgbClr val="56DDC0"/>
                </a:solidFill>
              </a:defRPr>
            </a:lvl1pPr>
            <a:lvl2pPr>
              <a:defRPr sz="3450" b="1">
                <a:solidFill>
                  <a:srgbClr val="56DDC0"/>
                </a:solidFill>
              </a:defRPr>
            </a:lvl2pPr>
            <a:lvl3pPr>
              <a:defRPr sz="3450" b="1">
                <a:solidFill>
                  <a:srgbClr val="56DDC0"/>
                </a:solidFill>
              </a:defRPr>
            </a:lvl3pPr>
            <a:lvl4pPr>
              <a:defRPr sz="3450" b="1">
                <a:solidFill>
                  <a:srgbClr val="56DDC0"/>
                </a:solidFill>
              </a:defRPr>
            </a:lvl4pPr>
            <a:lvl5pPr>
              <a:defRPr sz="3450" b="1">
                <a:solidFill>
                  <a:srgbClr val="56DDC0"/>
                </a:solidFill>
              </a:defRPr>
            </a:lvl5pPr>
            <a:lvl6pPr>
              <a:defRPr sz="3450" b="1">
                <a:solidFill>
                  <a:srgbClr val="56DDC0"/>
                </a:solidFill>
              </a:defRPr>
            </a:lvl6pPr>
            <a:lvl7pPr>
              <a:defRPr sz="3450" b="1">
                <a:solidFill>
                  <a:srgbClr val="56DDC0"/>
                </a:solidFill>
              </a:defRPr>
            </a:lvl7pPr>
            <a:lvl8pPr>
              <a:defRPr sz="3450" b="1">
                <a:solidFill>
                  <a:srgbClr val="56DDC0"/>
                </a:solidFill>
              </a:defRPr>
            </a:lvl8pPr>
            <a:lvl9pPr>
              <a:defRPr sz="3450" b="1">
                <a:solidFill>
                  <a:srgbClr val="56DDC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6DDC0"/>
                </a:solidFill>
              </a:defRPr>
            </a:pPr>
            <a:r>
              <a:rPr sz="3450" b="1">
                <a:solidFill>
                  <a:srgbClr val="56DDC0"/>
                </a:solidFill>
              </a:rPr>
              <a:t>Der begrenzte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33154-8EAE-4B31-8978-75C61566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EDF6"/>
                </a:solidFill>
              </a:defRPr>
            </a:defPPr>
            <a:lvl1pPr>
              <a:defRPr sz="3150" b="1">
                <a:solidFill>
                  <a:srgbClr val="E8EDF6"/>
                </a:solidFill>
              </a:defRPr>
            </a:lvl1pPr>
            <a:lvl2pPr>
              <a:defRPr sz="3150" b="1">
                <a:solidFill>
                  <a:srgbClr val="E8EDF6"/>
                </a:solidFill>
              </a:defRPr>
            </a:lvl2pPr>
            <a:lvl3pPr>
              <a:defRPr sz="3150" b="1">
                <a:solidFill>
                  <a:srgbClr val="E8EDF6"/>
                </a:solidFill>
              </a:defRPr>
            </a:lvl3pPr>
            <a:lvl4pPr>
              <a:defRPr sz="3150" b="1">
                <a:solidFill>
                  <a:srgbClr val="E8EDF6"/>
                </a:solidFill>
              </a:defRPr>
            </a:lvl4pPr>
            <a:lvl5pPr>
              <a:defRPr sz="3150" b="1">
                <a:solidFill>
                  <a:srgbClr val="E8EDF6"/>
                </a:solidFill>
              </a:defRPr>
            </a:lvl5pPr>
            <a:lvl6pPr>
              <a:defRPr sz="3150" b="1">
                <a:solidFill>
                  <a:srgbClr val="E8EDF6"/>
                </a:solidFill>
              </a:defRPr>
            </a:lvl6pPr>
            <a:lvl7pPr>
              <a:defRPr sz="3150" b="1">
                <a:solidFill>
                  <a:srgbClr val="E8EDF6"/>
                </a:solidFill>
              </a:defRPr>
            </a:lvl7pPr>
            <a:lvl8pPr>
              <a:defRPr sz="3150" b="1">
                <a:solidFill>
                  <a:srgbClr val="E8EDF6"/>
                </a:solidFill>
              </a:defRPr>
            </a:lvl8pPr>
            <a:lvl9pPr>
              <a:defRPr sz="3150" b="1">
                <a:solidFill>
                  <a:srgbClr val="E8EDF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Ein Prozess. Eine Ausgangslage.</a:t>
            </a:r>
          </a:p>
          <a:p xmlns:a="http://schemas.openxmlformats.org/drawingml/2006/main">
            <a:pPr>
              <a:defRPr sz="3150" b="1">
                <a:solidFill>
                  <a:srgbClr val="E8EDF6"/>
                </a:solidFill>
              </a:defRPr>
            </a:pPr>
            <a:r>
              <a:rPr sz="3150" b="1">
                <a:solidFill>
                  <a:srgbClr val="E8EDF6"/>
                </a:solidFill>
              </a:rPr>
              <a:t>Eine überprüfbare Entscheidung.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D4DF5-0E3A-4AF3-B81E-7E6A0360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0E1"/>
                </a:solidFill>
              </a:defRPr>
            </a:defPPr>
            <a:lvl1pPr>
              <a:defRPr sz="2100" b="0">
                <a:solidFill>
                  <a:srgbClr val="C1D0E1"/>
                </a:solidFill>
              </a:defRPr>
            </a:lvl1pPr>
            <a:lvl2pPr>
              <a:defRPr sz="2100" b="0">
                <a:solidFill>
                  <a:srgbClr val="C1D0E1"/>
                </a:solidFill>
              </a:defRPr>
            </a:lvl2pPr>
            <a:lvl3pPr>
              <a:defRPr sz="2100" b="0">
                <a:solidFill>
                  <a:srgbClr val="C1D0E1"/>
                </a:solidFill>
              </a:defRPr>
            </a:lvl3pPr>
            <a:lvl4pPr>
              <a:defRPr sz="2100" b="0">
                <a:solidFill>
                  <a:srgbClr val="C1D0E1"/>
                </a:solidFill>
              </a:defRPr>
            </a:lvl4pPr>
            <a:lvl5pPr>
              <a:defRPr sz="2100" b="0">
                <a:solidFill>
                  <a:srgbClr val="C1D0E1"/>
                </a:solidFill>
              </a:defRPr>
            </a:lvl5pPr>
            <a:lvl6pPr>
              <a:defRPr sz="2100" b="0">
                <a:solidFill>
                  <a:srgbClr val="C1D0E1"/>
                </a:solidFill>
              </a:defRPr>
            </a:lvl6pPr>
            <a:lvl7pPr>
              <a:defRPr sz="2100" b="0">
                <a:solidFill>
                  <a:srgbClr val="C1D0E1"/>
                </a:solidFill>
              </a:defRPr>
            </a:lvl7pPr>
            <a:lvl8pPr>
              <a:defRPr sz="2100" b="0">
                <a:solidFill>
                  <a:srgbClr val="C1D0E1"/>
                </a:solidFill>
              </a:defRPr>
            </a:lvl8pPr>
            <a:lvl9pPr>
              <a:defRPr sz="2100" b="0">
                <a:solidFill>
                  <a:srgbClr val="C1D0E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Der Pilot prüft Qualität, Fehler und Gesamtkosten.</a:t>
            </a:r>
          </a:p>
          <a:p xmlns:a="http://schemas.openxmlformats.org/drawingml/2006/main">
            <a:pPr>
              <a:defRPr sz="2100" b="0">
                <a:solidFill>
                  <a:srgbClr val="C1D0E1"/>
                </a:solidFill>
              </a:defRPr>
            </a:pPr>
            <a:r>
              <a:rPr sz="2100" b="0">
                <a:solidFill>
                  <a:srgbClr val="C1D0E1"/>
                </a:solidFill>
              </a:rPr>
              <a:t>Eine Ausweitung folgt den gemessenen Ergebnissen.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1152E-2FE5-4A40-A736-D3CA3F39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9D8A"/>
                </a:solidFill>
              </a:defRPr>
            </a:defPPr>
            <a:lvl1pPr>
              <a:defRPr sz="1725" b="0">
                <a:solidFill>
                  <a:srgbClr val="FF9D8A"/>
                </a:solidFill>
              </a:defRPr>
            </a:lvl1pPr>
            <a:lvl2pPr>
              <a:defRPr sz="1725" b="0">
                <a:solidFill>
                  <a:srgbClr val="FF9D8A"/>
                </a:solidFill>
              </a:defRPr>
            </a:lvl2pPr>
            <a:lvl3pPr>
              <a:defRPr sz="1725" b="0">
                <a:solidFill>
                  <a:srgbClr val="FF9D8A"/>
                </a:solidFill>
              </a:defRPr>
            </a:lvl3pPr>
            <a:lvl4pPr>
              <a:defRPr sz="1725" b="0">
                <a:solidFill>
                  <a:srgbClr val="FF9D8A"/>
                </a:solidFill>
              </a:defRPr>
            </a:lvl4pPr>
            <a:lvl5pPr>
              <a:defRPr sz="1725" b="0">
                <a:solidFill>
                  <a:srgbClr val="FF9D8A"/>
                </a:solidFill>
              </a:defRPr>
            </a:lvl5pPr>
            <a:lvl6pPr>
              <a:defRPr sz="1725" b="0">
                <a:solidFill>
                  <a:srgbClr val="FF9D8A"/>
                </a:solidFill>
              </a:defRPr>
            </a:lvl6pPr>
            <a:lvl7pPr>
              <a:defRPr sz="1725" b="0">
                <a:solidFill>
                  <a:srgbClr val="FF9D8A"/>
                </a:solidFill>
              </a:defRPr>
            </a:lvl7pPr>
            <a:lvl8pPr>
              <a:defRPr sz="1725" b="0">
                <a:solidFill>
                  <a:srgbClr val="FF9D8A"/>
                </a:solidFill>
              </a:defRPr>
            </a:lvl8pPr>
            <a:lvl9pPr>
              <a:defRPr sz="1725" b="0">
                <a:solidFill>
                  <a:srgbClr val="FF9D8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9D8A"/>
                </a:solidFill>
              </a:defRPr>
            </a:pPr>
            <a:r>
              <a:rPr sz="1725" b="0">
                <a:solidFill>
                  <a:srgbClr val="FF9D8A"/>
                </a:solidFill>
              </a:rPr>
              <a:t>Ein KI-Lenkungskreis lenkt noch keinen einzigen Warenkorb.</a:t>
            </a:r>
          </a:p>
        </p:txBody>
      </p:sp>
    </p:spTree>
    <p:extLst>
      <p:ext uri="{BB962C8B-B14F-4D97-AF65-F5344CB8AC3E}">
        <p14:creationId xmlns:p14="http://schemas.microsoft.com/office/powerpoint/2010/main" val="1677110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2026-10-26T20:01:24.1610000Z</dcterms:created>
  <dcterms:modified xsi:type="dcterms:W3CDTF">2026-10-26T20:01:24.1610000Z</dcterms:modified>
</coreProperties>
</file>